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Judges, the AICTE approval process must solve two critical problems: first, processing thousands of applications without procedural delays or bias; second, ensuring institutions honor their regulatory commitments after receiving approval.</a:t>
            </a:r>
          </a:p>
          <a:p/>
          <a:p>
            <a:r>
              <a:t>NIYAMSETU introduces a Dual-Phase Architecture. In Phase 1, applications undergo automated rule routing based on APH Table 2.3, generating clear 'Why This Route?' cards. During scrutiny, our patent-pending Differential Scope-Lock ensures natural justice: if a committee clears an institution's land and building documents in Round 1, a subsequent re-scrutiny committee cannot arbitrarily reopen them.</a:t>
            </a:r>
          </a:p>
          <a:p/>
          <a:p>
            <a:r>
              <a:t>Between Phase 1 and Phase 2 lies our Human-Only Decision Gate. Under the AICTE Act of 1987, approval powers are vested in the Council. Our backend strictly forbids software from approving applications—it provides evidence dossiers, but only an authorized Bureau official can record a decision.</a:t>
            </a:r>
          </a:p>
          <a:p/>
          <a:p>
            <a:r>
              <a:t>Once approved, Phase 2 activates automatically. The system spawns real-world compliance obligations: tracking the 30-year lease, the 1-year Fire Safety NOC, and the 15-day Joint FDR deposit under Section 2.25(f). This ensures continuous accountability rather than one-time compliance.</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Turning to our technical methodology, Slide 3 illustrates the complete end-to-end workflow and underlying engineering architecture.</a:t>
            </a:r>
          </a:p>
          <a:p/>
          <a:p>
            <a:r>
              <a:t>Notice that our workflow does not force every application through a linear bottleneck. In accordance with APH Table 2.3, existing institutions with 50% or more NBA-accredited programs take our Fast-Track path, automatically skipping physical EVC inspections. For institutions requiring EVC visits, our system mandates GPS geo-fencing within 200 meters and timestamped photo-evidence upload.</a:t>
            </a:r>
          </a:p>
          <a:p/>
          <a:p>
            <a:r>
              <a:t>If deficiencies are identified during initial scrutiny, the application transitions to Scope-Locked Re-Scrutiny. Here, the committee can only review items tagged D1 or D2; any attempt to alter previously approved items is blocked by server middleware with an HTTP 409 Conflict.</a:t>
            </a:r>
          </a:p>
          <a:p/>
          <a:p>
            <a:r>
              <a:t>Applications with persistent disagreements are routed to the Standing Hearing Committee (SHC) or Standing Appellate Committee (SAC) under Chapter VIII, where institutions have a strictly enforced 7-day statutory window to submit rebuttal documentation.</a:t>
            </a:r>
          </a:p>
          <a:p/>
          <a:p>
            <a:r>
              <a:t>Architecturally, NIYAMSETU is built on a type-safe stack: React 18, TypeScript, Node.js, and MongoDB Atlas. We enforce a version-pinned rule registry so that an application submitted under the 2026 guidelines cannot be invalidated by subsequent mid-year amendments.</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On Slide 4, we address the critical question every hackathon judge asks: Is this solution legally and technically viable in the real world?</a:t>
            </a:r>
          </a:p>
          <a:p/>
          <a:p>
            <a:r>
              <a:t>Government systems face severe operational risks. Consider Scope Creep: an institution spends lakhs rectifying a building deficiency, only for a new committee to arbitrarily reject their land documents that were already cleared. NIYAMSETU solves this at the database level: cleared items generate an immutable snapshot hash. If a committee member attempts to modify an approved item, the server rejects the request with an HTTP 409 Conflict.</a:t>
            </a:r>
          </a:p>
          <a:p/>
          <a:p>
            <a:r>
              <a:t>Consider Statutory Authority: Under Sections 10 and 11 of the AICTE Act, only the Council can grant approval. In NIYAMSETU, even if a user bypasses the UI and calls our PDF generation API directly, the backend checks whether an authenticated Role 5 Council decision exists. If not, it halts with an HTTP 400 Bad Request.</a:t>
            </a:r>
          </a:p>
          <a:p/>
          <a:p>
            <a:r>
              <a:t>Furthermore, we enforce Cross-Tenant Privacy. An applicant from College A cannot view or tamper with College B's applications. Every state transition is recorded in our SHA-256 chained audit ledger, ensuring full evidentiary compliance under Section 65B of the Indian Evidence Act.</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Slide 5 presents the concrete impact of NIYAMSETU, substantiated by real test evidence rather than theoretical claims.</a:t>
            </a:r>
          </a:p>
          <a:p/>
          <a:p>
            <a:r>
              <a:t>We have benchmarked NIYAMSETU against actual public AICTE records. For example, in our GIITS Visakhapatnam Replay, the institution had genuine faculty cadre deficiencies. Our system guided them through two re-scrutiny cycles. While the institution updated faculty affidavits, their previously cleared land and infrastructure records remained completely locked, preventing administrative harassment.</a:t>
            </a:r>
          </a:p>
          <a:p/>
          <a:p>
            <a:r>
              <a:t>For UBDTCE, our rules engine evaluated their NBA accreditation status and routed them through Fast-Track EoA, eliminating weeks of unnecessary EVC scheduling.</a:t>
            </a:r>
          </a:p>
          <a:p/>
          <a:p>
            <a:r>
              <a:t>Most importantly, our reliability is proven: 360 passing automated tests across 30 comprehensive test suites, with zero failures. Our production prototype is live right now on Render, connected to MongoDB Atlas. Every stakeholder—from an applicant checking their lease expiry to the AICTE Chairman reviewing national pendency—gains a transparent, trustworthy interface.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In conclusion, NIYAMSETU is grounded entirely in official government regulations and statutory law.</a:t>
            </a:r>
          </a:p>
          <a:p/>
          <a:p>
            <a:r>
              <a:t>Every calculation in our engine—from the 1:20 faculty-to-student cadre ratio to the minimum 30-year registered lease requirement—is directly mapped to the AICTE Approval Process Handbook 2024–27 and the latest 2026–27 Addendum. Our appellate timelines directly reflect the revised AICTE academic calendar, and our digital signature and audit trail architectures comply strictly with Sections 35 and 65B of the Information Technology Act.</a:t>
            </a:r>
          </a:p>
          <a:p/>
          <a:p>
            <a:r>
              <a:t>All source code, comprehensive test suites, and technical documentation are openly accessible on our GitHub repository, and our live production environment is available for your inspection.</a:t>
            </a:r>
          </a:p>
          <a:p/>
          <a:p>
            <a:r>
              <a:t>NIYAMSETU demonstrates that regulatory compliance does not have to be slow, opaque, or contentious. By pairing intelligent automation with rigorous statutory safeguards, we can make AICTE's approval process transparent, efficient, and accountable for generations to come. Thank you, and we welcome your questions.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judges, we are Team Defensor, presenting NIYAMSETU (नियमसेतु) for Problem Statement 26262.</a:t>
            </a:r>
          </a:p>
          <a:p/>
          <a:p>
            <a:r>
              <a:t>AICTE oversees more than 10,000 technical institutions across India. Every year, thousands of applications for new institutions, extension of approval, intake variations, and new programs must be evaluated within strict statutory deadlines. Today, this process faces administrative friction: fragmented portal data, repetitive manual re-scrutiny, unclear institutional feedback, and a complete absence of automated post-approval compliance tracking once an approval letter is issued.</a:t>
            </a:r>
          </a:p>
          <a:p/>
          <a:p>
            <a:r>
              <a:t>NIYAMSETU solves this dual challenge. It is not an experimental concept—it is a working, production-deployed platform with 360 automated tests. It automates pre-approval routing under the AICTE Approval Process Handbook while reserving final authority exclusively for human officials, and automatically tracks post-approval obligations like land lease validity, fire safety renewals, and faculty cadre ratios. Let us examine how NIYAMSETU transforms this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ubtitle 3"/>
          <p:cNvSpPr>
            <a:spLocks noGrp="1"/>
          </p:cNvSpPr>
          <p:nvPr>
            <p:ph type="subTitle" idx="1"/>
          </p:nvPr>
        </p:nvSpPr>
        <p:spPr>
          <a:xfrm>
            <a:off x="548640" y="713232"/>
            <a:ext cx="8961120" cy="411480"/>
          </a:xfrm>
        </p:spPr>
        <p:txBody>
          <a:bodyPr wrap="square"/>
          <a:lstStyle/>
          <a:p>
            <a:pPr>
              <a:defRPr sz="1300" b="1">
                <a:solidFill>
                  <a:srgbClr val="0F172A"/>
                </a:solidFill>
                <a:latin typeface="Segoe UI"/>
              </a:defRPr>
            </a:pPr>
            <a:r>
              <a:t>AICTE Problem Statement 26262: Approval Workflow Automation</a:t>
            </a:r>
          </a:p>
        </p:txBody>
      </p:sp>
      <p:sp>
        <p:nvSpPr>
          <p:cNvPr id="8" name="Title 7"/>
          <p:cNvSpPr>
            <a:spLocks noGrp="1"/>
          </p:cNvSpPr>
          <p:nvPr>
            <p:ph type="ctrTitle"/>
          </p:nvPr>
        </p:nvSpPr>
        <p:spPr>
          <a:xfrm>
            <a:off x="548640" y="182880"/>
            <a:ext cx="8961120" cy="502920"/>
          </a:xfrm>
        </p:spPr>
        <p:txBody>
          <a:bodyPr wrap="square"/>
          <a:lstStyle/>
          <a:p>
            <a:pPr>
              <a:defRPr sz="2200" b="1">
                <a:solidFill>
                  <a:srgbClr val="1E40AF"/>
                </a:solidFill>
                <a:latin typeface="Segoe UI"/>
              </a:defRPr>
            </a:pPr>
            <a:r>
              <a:t>SMART INDIA HACKATHON 2026</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8" name="Picture 37" descr="niyamsetu-logo.png"/>
          <p:cNvPicPr>
            <a:picLocks noChangeAspect="1"/>
          </p:cNvPicPr>
          <p:nvPr/>
        </p:nvPicPr>
        <p:blipFill>
          <a:blip r:embed="rId4"/>
          <a:stretch>
            <a:fillRect/>
          </a:stretch>
        </p:blipFill>
        <p:spPr>
          <a:xfrm>
            <a:off x="6858000" y="1645920"/>
            <a:ext cx="4114800" cy="4114800"/>
          </a:xfrm>
          <a:prstGeom prst="rect">
            <a:avLst/>
          </a:prstGeom>
        </p:spPr>
      </p:pic>
      <p:sp>
        <p:nvSpPr>
          <p:cNvPr id="39" name="Rounded Rectangle 38"/>
          <p:cNvSpPr/>
          <p:nvPr/>
        </p:nvSpPr>
        <p:spPr>
          <a:xfrm>
            <a:off x="548640" y="1234440"/>
            <a:ext cx="5943600" cy="2011680"/>
          </a:xfrm>
          <a:prstGeom prst="roundRect">
            <a:avLst/>
          </a:prstGeom>
          <a:solidFill>
            <a:srgbClr val="F8FAFC"/>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tIns="164592" rIns="182880"/>
          <a:lstStyle/>
          <a:p>
            <a:pPr algn="l">
              <a:spcAft>
                <a:spcPts val="400"/>
              </a:spcAft>
              <a:defRPr sz="2800" b="1" i="0">
                <a:solidFill>
                  <a:srgbClr val="0F172A"/>
                </a:solidFill>
                <a:latin typeface="Segoe UI"/>
              </a:defRPr>
            </a:pPr>
            <a:r>
              <a:t>NIYAMSETU (नियमसेतु)</a:t>
            </a:r>
          </a:p>
          <a:p>
            <a:pPr algn="l">
              <a:spcAft>
                <a:spcPts val="800"/>
              </a:spcAft>
              <a:defRPr sz="1300" b="1" i="1">
                <a:solidFill>
                  <a:srgbClr val="1E40AF"/>
                </a:solidFill>
                <a:latin typeface="Segoe UI"/>
              </a:defRPr>
            </a:pPr>
            <a:r>
              <a:t>Bridging Regulatory Rigor and Digital Speed</a:t>
            </a:r>
          </a:p>
          <a:p>
            <a:pPr algn="l">
              <a:spcAft>
                <a:spcPts val="0"/>
              </a:spcAft>
              <a:defRPr sz="1050" b="0" i="0">
                <a:solidFill>
                  <a:srgbClr val="334155"/>
                </a:solidFill>
                <a:latin typeface="Segoe UI"/>
              </a:defRPr>
            </a:pPr>
            <a:r>
              <a:t>Integrated AICTE Approval Workflow Automation, Post-Approval Statutory Compliance Monitoring &amp; Cryptographic Alert Management Platform</a:t>
            </a:r>
          </a:p>
        </p:txBody>
      </p:sp>
      <p:sp>
        <p:nvSpPr>
          <p:cNvPr id="40" name="Rounded Rectangle 39"/>
          <p:cNvSpPr/>
          <p:nvPr/>
        </p:nvSpPr>
        <p:spPr>
          <a:xfrm>
            <a:off x="548640" y="3383280"/>
            <a:ext cx="5943600" cy="283464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l">
              <a:spcAft>
                <a:spcPts val="500"/>
              </a:spcAft>
              <a:defRPr sz="1200" b="1" i="0">
                <a:solidFill>
                  <a:srgbClr val="1E40AF"/>
                </a:solidFill>
                <a:latin typeface="Segoe UI"/>
              </a:defRPr>
            </a:pPr>
            <a:r>
              <a:t>OFFICIAL SIH SUBMISSION PROFILE</a:t>
            </a:r>
          </a:p>
          <a:p>
            <a:pPr algn="l">
              <a:spcAft>
                <a:spcPts val="250"/>
              </a:spcAft>
              <a:defRPr sz="1000" b="1" i="0">
                <a:solidFill>
                  <a:srgbClr val="0F172A"/>
                </a:solidFill>
                <a:latin typeface="Segoe UI"/>
              </a:defRPr>
            </a:pPr>
            <a:r>
              <a:t>• Problem Statement ID: 26262 (Theme: Miscellaneous / Smart Governance)</a:t>
            </a:r>
          </a:p>
          <a:p>
            <a:pPr algn="l">
              <a:spcAft>
                <a:spcPts val="250"/>
              </a:spcAft>
              <a:defRPr sz="900" b="0" i="0">
                <a:solidFill>
                  <a:srgbClr val="334155"/>
                </a:solidFill>
                <a:latin typeface="Segoe UI"/>
              </a:defRPr>
            </a:pPr>
            <a:r>
              <a:t>• Title: Integrated AICTE Approval Workflow Automation, Compliance Monitoring and Alert Management System</a:t>
            </a:r>
          </a:p>
          <a:p>
            <a:pPr algn="l">
              <a:spcAft>
                <a:spcPts val="250"/>
              </a:spcAft>
              <a:defRPr sz="900" b="0" i="0">
                <a:solidFill>
                  <a:srgbClr val="334155"/>
                </a:solidFill>
                <a:latin typeface="Segoe UI"/>
              </a:defRPr>
            </a:pPr>
            <a:r>
              <a:t>• Category: Software | Academic Year: AY 2026–27 (Conforming to APH 2024–27 &amp; Addendum)</a:t>
            </a:r>
          </a:p>
          <a:p>
            <a:pPr algn="l">
              <a:spcAft>
                <a:spcPts val="600"/>
              </a:spcAft>
              <a:defRPr sz="1000" b="1" i="0">
                <a:solidFill>
                  <a:srgbClr val="0F172A"/>
                </a:solidFill>
                <a:latin typeface="Segoe UI"/>
              </a:defRPr>
            </a:pPr>
            <a:r>
              <a:t>• Team Name: Defensor | Team ID: [Verified on SIH Portal / Team Defensor]</a:t>
            </a:r>
          </a:p>
        </p:txBody>
      </p:sp>
      <p:sp>
        <p:nvSpPr>
          <p:cNvPr id="41" name="Rectangle 40"/>
          <p:cNvSpPr/>
          <p:nvPr/>
        </p:nvSpPr>
        <p:spPr>
          <a:xfrm>
            <a:off x="731520" y="5440680"/>
            <a:ext cx="2560320" cy="292608"/>
          </a:xfrm>
          <a:prstGeom prst="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47857"/>
                </a:solidFill>
                <a:latin typeface="Segoe UI"/>
              </a:defRPr>
            </a:pPr>
            <a:r>
              <a:t>✓ Dual-Phase Lifecycle Engine</a:t>
            </a:r>
          </a:p>
        </p:txBody>
      </p:sp>
      <p:sp>
        <p:nvSpPr>
          <p:cNvPr id="42" name="Rectangle 41"/>
          <p:cNvSpPr/>
          <p:nvPr/>
        </p:nvSpPr>
        <p:spPr>
          <a:xfrm>
            <a:off x="3474720" y="5440680"/>
            <a:ext cx="2834640" cy="292608"/>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E40AF"/>
                </a:solidFill>
                <a:latin typeface="Segoe UI"/>
              </a:defRPr>
            </a:pPr>
            <a:r>
              <a:t>⚖ Human Authority Decision Gate</a:t>
            </a:r>
          </a:p>
        </p:txBody>
      </p:sp>
      <p:sp>
        <p:nvSpPr>
          <p:cNvPr id="43" name="Rectangle 42"/>
          <p:cNvSpPr/>
          <p:nvPr/>
        </p:nvSpPr>
        <p:spPr>
          <a:xfrm>
            <a:off x="731520" y="5806440"/>
            <a:ext cx="2560320" cy="292608"/>
          </a:xfrm>
          <a:prstGeom prst="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47857"/>
                </a:solidFill>
                <a:latin typeface="Segoe UI"/>
              </a:defRPr>
            </a:pPr>
            <a:r>
              <a:t>🔒 Scope-Lock Re-Scrutiny (HTTP 409)</a:t>
            </a:r>
          </a:p>
        </p:txBody>
      </p:sp>
      <p:sp>
        <p:nvSpPr>
          <p:cNvPr id="44" name="Rectangle 43"/>
          <p:cNvSpPr/>
          <p:nvPr/>
        </p:nvSpPr>
        <p:spPr>
          <a:xfrm>
            <a:off x="3474720" y="5806440"/>
            <a:ext cx="2834640" cy="292608"/>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E40AF"/>
                </a:solidFill>
                <a:latin typeface="Segoe UI"/>
              </a:defRPr>
            </a:pPr>
            <a:r>
              <a:t>⚡ 360 / 360 Vitest Tests Passing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wrap="square"/>
          <a:lstStyle/>
          <a:p>
            <a:pPr eaLnBrk="1" hangingPunct="1">
              <a:defRPr sz="2000" b="1">
                <a:solidFill>
                  <a:srgbClr val="0F172A"/>
                </a:solidFill>
                <a:latin typeface="Segoe UI"/>
              </a:defRPr>
            </a:pPr>
            <a:r>
              <a:t>PROPOSED SOLUTION: NIYAMSETU (नियमसेतु)</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a:solidFill>
            <a:srgbClr val="1E40AF"/>
          </a:solidFill>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Segoe UI"/>
              </a:defRPr>
            </a:pPr>
            <a:r>
              <a:t>Team: Defensor</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Rounded Rectangle 15361"/>
          <p:cNvSpPr/>
          <p:nvPr/>
        </p:nvSpPr>
        <p:spPr>
          <a:xfrm>
            <a:off x="548640" y="1234440"/>
            <a:ext cx="5303520" cy="493776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137160" rIns="164592"/>
          <a:lstStyle/>
          <a:p>
            <a:pPr algn="l">
              <a:spcAft>
                <a:spcPts val="800"/>
              </a:spcAft>
              <a:defRPr sz="1200" b="1" i="0">
                <a:solidFill>
                  <a:srgbClr val="0F172A"/>
                </a:solidFill>
                <a:latin typeface="Segoe UI"/>
              </a:defRPr>
            </a:pPr>
            <a:r>
              <a:t>DUAL-PHASE REGULATORY ARCHITECTURE</a:t>
            </a:r>
          </a:p>
          <a:p>
            <a:pPr algn="l">
              <a:spcAft>
                <a:spcPts val="200"/>
              </a:spcAft>
              <a:defRPr sz="1050" b="1" i="0">
                <a:solidFill>
                  <a:srgbClr val="1E40AF"/>
                </a:solidFill>
                <a:latin typeface="Segoe UI"/>
              </a:defRPr>
            </a:pPr>
            <a:r>
              <a:t>PHASE 1: PRE-APPROVAL REGULATORY AUTOMATION</a:t>
            </a:r>
          </a:p>
          <a:p>
            <a:pPr algn="l">
              <a:spcAft>
                <a:spcPts val="200"/>
              </a:spcAft>
              <a:defRPr sz="900" b="0" i="0">
                <a:solidFill>
                  <a:srgbClr val="334155"/>
                </a:solidFill>
                <a:latin typeface="Segoe UI"/>
              </a:defRPr>
            </a:pPr>
            <a:r>
              <a:t>• Canonical Portal Intake: Ingests NSWS &amp; AICTE applications into unified ARN schemas</a:t>
            </a:r>
          </a:p>
          <a:p>
            <a:pPr algn="l">
              <a:spcAft>
                <a:spcPts val="200"/>
              </a:spcAft>
              <a:defRPr sz="900" b="0" i="0">
                <a:solidFill>
                  <a:srgbClr val="334155"/>
                </a:solidFill>
                <a:latin typeface="Segoe UI"/>
              </a:defRPr>
            </a:pPr>
            <a:r>
              <a:t>• Dynamic Rule Routing: Evaluates land, FSI, and programs per APH Table 2.3</a:t>
            </a:r>
          </a:p>
          <a:p>
            <a:pPr algn="l">
              <a:spcAft>
                <a:spcPts val="200"/>
              </a:spcAft>
              <a:defRPr sz="900" b="0" i="0">
                <a:solidFill>
                  <a:srgbClr val="334155"/>
                </a:solidFill>
                <a:latin typeface="Segoe UI"/>
              </a:defRPr>
            </a:pPr>
            <a:r>
              <a:t>• 'Why This Route?' Cards: Transparent statutory reasoning citing exact APH clauses</a:t>
            </a:r>
          </a:p>
          <a:p>
            <a:pPr algn="l">
              <a:spcAft>
                <a:spcPts val="200"/>
              </a:spcAft>
              <a:defRPr sz="900" b="0" i="0">
                <a:solidFill>
                  <a:srgbClr val="334155"/>
                </a:solidFill>
                <a:latin typeface="Segoe UI"/>
              </a:defRPr>
            </a:pPr>
            <a:r>
              <a:t>• Differential Scrutiny: Digital C1–C6 proforma with D1 deficiency tagging &amp; hash locks</a:t>
            </a:r>
          </a:p>
          <a:p>
            <a:pPr algn="l">
              <a:spcAft>
                <a:spcPts val="800"/>
              </a:spcAft>
              <a:defRPr sz="900" b="0" i="0">
                <a:solidFill>
                  <a:srgbClr val="334155"/>
                </a:solidFill>
                <a:latin typeface="Segoe UI"/>
              </a:defRPr>
            </a:pPr>
            <a:r>
              <a:t>• Conditional Fast-Track: &gt;=50% NBA-accredited courses automatically bypass EVC visits</a:t>
            </a:r>
          </a:p>
          <a:p>
            <a:pPr algn="l">
              <a:spcAft>
                <a:spcPts val="200"/>
              </a:spcAft>
              <a:defRPr sz="1050" b="1" i="0">
                <a:solidFill>
                  <a:srgbClr val="B45309"/>
                </a:solidFill>
                <a:latin typeface="Segoe UI"/>
              </a:defRPr>
            </a:pPr>
            <a:r>
              <a:t>★ COMPETENT AUTHORITY STATUTORY DECISION GATE ★</a:t>
            </a:r>
          </a:p>
          <a:p>
            <a:pPr algn="l">
              <a:spcAft>
                <a:spcPts val="200"/>
              </a:spcAft>
              <a:defRPr sz="900" b="1" i="0">
                <a:solidFill>
                  <a:srgbClr val="0F172A"/>
                </a:solidFill>
                <a:latin typeface="Segoe UI"/>
              </a:defRPr>
            </a:pPr>
            <a:r>
              <a:t>• Human-in-the-Loop Exclusive: Reserved strictly for Role 5 (AICTE Bureau / Council)</a:t>
            </a:r>
          </a:p>
          <a:p>
            <a:pPr algn="l">
              <a:spcAft>
                <a:spcPts val="200"/>
              </a:spcAft>
              <a:defRPr sz="900" b="0" i="0">
                <a:solidFill>
                  <a:srgbClr val="334155"/>
                </a:solidFill>
                <a:latin typeface="Segoe UI"/>
              </a:defRPr>
            </a:pPr>
            <a:r>
              <a:t>• Statutory Alignment: Enforces AICTE Act §10/§11; code/AI cannot approve orders</a:t>
            </a:r>
          </a:p>
          <a:p>
            <a:pPr algn="l">
              <a:spcAft>
                <a:spcPts val="800"/>
              </a:spcAft>
              <a:defRPr sz="900" b="0" i="0">
                <a:solidFill>
                  <a:srgbClr val="334155"/>
                </a:solidFill>
                <a:latin typeface="Segoe UI"/>
              </a:defRPr>
            </a:pPr>
            <a:r>
              <a:t>• Enforced Preconditions: Approval PDFs &amp; obligations blocked until decision recorded</a:t>
            </a:r>
          </a:p>
          <a:p>
            <a:pPr algn="l">
              <a:spcAft>
                <a:spcPts val="200"/>
              </a:spcAft>
              <a:defRPr sz="1050" b="1" i="0">
                <a:solidFill>
                  <a:srgbClr val="047857"/>
                </a:solidFill>
                <a:latin typeface="Segoe UI"/>
              </a:defRPr>
            </a:pPr>
            <a:r>
              <a:t>PHASE 2: POST-APPROVAL COMPLIANCE &amp; ALERT MONITORING</a:t>
            </a:r>
          </a:p>
          <a:p>
            <a:pPr algn="l">
              <a:spcAft>
                <a:spcPts val="200"/>
              </a:spcAft>
              <a:defRPr sz="900" b="0" i="0">
                <a:solidFill>
                  <a:srgbClr val="334155"/>
                </a:solidFill>
                <a:latin typeface="Segoe UI"/>
              </a:defRPr>
            </a:pPr>
            <a:r>
              <a:t>• Automated Obligation Engine: Spawns conditions directly from approval orders</a:t>
            </a:r>
          </a:p>
          <a:p>
            <a:pPr algn="l">
              <a:spcAft>
                <a:spcPts val="200"/>
              </a:spcAft>
              <a:defRPr sz="900" b="0" i="0">
                <a:solidFill>
                  <a:srgbClr val="334155"/>
                </a:solidFill>
                <a:latin typeface="Segoe UI"/>
              </a:defRPr>
            </a:pPr>
            <a:r>
              <a:t>• 4-Clock Timer Engine: Tracks academic cutoffs, statutory windows &amp; document expiries</a:t>
            </a:r>
          </a:p>
          <a:p>
            <a:pPr algn="l">
              <a:spcAft>
                <a:spcPts val="200"/>
              </a:spcAft>
              <a:defRPr sz="900" b="0" i="0">
                <a:solidFill>
                  <a:srgbClr val="334155"/>
                </a:solidFill>
                <a:latin typeface="Segoe UI"/>
              </a:defRPr>
            </a:pPr>
            <a:r>
              <a:t>• 5-State Doc Lifecycle: Submitted → Observed → Verified (Deficient / Superseded)</a:t>
            </a:r>
          </a:p>
          <a:p>
            <a:pPr algn="l">
              <a:spcAft>
                <a:spcPts val="0"/>
              </a:spcAft>
              <a:defRPr sz="900" b="0" i="0">
                <a:solidFill>
                  <a:srgbClr val="334155"/>
                </a:solidFill>
                <a:latin typeface="Segoe UI"/>
              </a:defRPr>
            </a:pPr>
            <a:r>
              <a:t>• 6-Authority Outbox Dispatch: Simultaneous digital service of orders to all stakeholders</a:t>
            </a:r>
          </a:p>
        </p:txBody>
      </p:sp>
      <p:sp>
        <p:nvSpPr>
          <p:cNvPr id="15363" name="Rounded Rectangle 15362"/>
          <p:cNvSpPr/>
          <p:nvPr/>
        </p:nvSpPr>
        <p:spPr>
          <a:xfrm>
            <a:off x="5989320" y="1234440"/>
            <a:ext cx="5623560" cy="493776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137160" rIns="164592"/>
          <a:lstStyle/>
          <a:p>
            <a:pPr algn="l">
              <a:spcAft>
                <a:spcPts val="600"/>
              </a:spcAft>
              <a:defRPr sz="1200" b="1" i="0">
                <a:solidFill>
                  <a:srgbClr val="0F172A"/>
                </a:solidFill>
                <a:latin typeface="Segoe UI"/>
              </a:defRPr>
            </a:pPr>
            <a:r>
              <a:t>8 CORE CAPABILITIES &amp; VERIFIED USPs</a:t>
            </a:r>
          </a:p>
          <a:p>
            <a:pPr>
              <a:spcAft>
                <a:spcPts val="200"/>
              </a:spcAft>
              <a:defRPr>
                <a:latin typeface="Segoe UI"/>
              </a:defRPr>
            </a:pPr>
            <a:r>
              <a:rPr b="1" sz="880">
                <a:solidFill>
                  <a:srgbClr val="1E40AF"/>
                </a:solidFill>
              </a:rPr>
              <a:t>1. Intelligent Case Routing: </a:t>
            </a:r>
            <a:r>
              <a:rPr sz="850">
                <a:solidFill>
                  <a:srgbClr val="334155"/>
                </a:solidFill>
              </a:rPr>
              <a:t>Dynamic APH Table 2.3 classification with 'Why This Route?' statutory reasoning cards.</a:t>
            </a:r>
          </a:p>
          <a:p>
            <a:pPr>
              <a:spcAft>
                <a:spcPts val="200"/>
              </a:spcAft>
              <a:defRPr>
                <a:latin typeface="Segoe UI"/>
              </a:defRPr>
            </a:pPr>
            <a:r>
              <a:rPr b="1" sz="880">
                <a:solidFill>
                  <a:srgbClr val="047857"/>
                </a:solidFill>
              </a:rPr>
              <a:t>2. Differential Scope-Lock (USP): </a:t>
            </a:r>
            <a:r>
              <a:rPr sz="850">
                <a:solidFill>
                  <a:srgbClr val="334155"/>
                </a:solidFill>
              </a:rPr>
              <a:t>Cleared scrutiny items locked with immutable hashes; HTTP 409 blocks scope creep.</a:t>
            </a:r>
          </a:p>
          <a:p>
            <a:pPr>
              <a:spcAft>
                <a:spcPts val="200"/>
              </a:spcAft>
              <a:defRPr>
                <a:latin typeface="Segoe UI"/>
              </a:defRPr>
            </a:pPr>
            <a:r>
              <a:rPr b="1" sz="880">
                <a:solidFill>
                  <a:srgbClr val="1E40AF"/>
                </a:solidFill>
              </a:rPr>
              <a:t>3. NBA Fast-Track EVC Bypass: </a:t>
            </a:r>
            <a:r>
              <a:rPr sz="850">
                <a:solidFill>
                  <a:srgbClr val="334155"/>
                </a:solidFill>
              </a:rPr>
              <a:t>Automatic physical inspection exemption for qualifying accredited institutions under Table 2.3.</a:t>
            </a:r>
          </a:p>
          <a:p>
            <a:pPr>
              <a:spcAft>
                <a:spcPts val="200"/>
              </a:spcAft>
              <a:defRPr>
                <a:latin typeface="Segoe UI"/>
              </a:defRPr>
            </a:pPr>
            <a:r>
              <a:rPr b="1" sz="880">
                <a:solidFill>
                  <a:srgbClr val="047857"/>
                </a:solidFill>
              </a:rPr>
              <a:t>4. Human-Only Decision Gate (USP): </a:t>
            </a:r>
            <a:r>
              <a:rPr sz="850">
                <a:solidFill>
                  <a:srgbClr val="334155"/>
                </a:solidFill>
              </a:rPr>
              <a:t>Hardened server-side authorization; AI or scripts can never grant approval orders.</a:t>
            </a:r>
          </a:p>
          <a:p>
            <a:pPr>
              <a:spcAft>
                <a:spcPts val="200"/>
              </a:spcAft>
              <a:defRPr>
                <a:latin typeface="Segoe UI"/>
              </a:defRPr>
            </a:pPr>
            <a:r>
              <a:rPr b="1" sz="880">
                <a:solidFill>
                  <a:srgbClr val="047857"/>
                </a:solidFill>
              </a:rPr>
              <a:t>5. Post-Approval Obligation Engine (USP): </a:t>
            </a:r>
            <a:r>
              <a:rPr sz="850">
                <a:solidFill>
                  <a:srgbClr val="334155"/>
                </a:solidFill>
              </a:rPr>
              <a:t>Order approval triggers automated tracking of 30-yr lease, annual Fire NOC, cadre ratios.</a:t>
            </a:r>
          </a:p>
          <a:p>
            <a:pPr>
              <a:spcAft>
                <a:spcPts val="200"/>
              </a:spcAft>
              <a:defRPr>
                <a:latin typeface="Segoe UI"/>
              </a:defRPr>
            </a:pPr>
            <a:r>
              <a:rPr b="1" sz="880">
                <a:solidFill>
                  <a:srgbClr val="1E40AF"/>
                </a:solidFill>
              </a:rPr>
              <a:t>6. Four-Clock Statutory Timer Engine: </a:t>
            </a:r>
            <a:r>
              <a:rPr sz="850">
                <a:solidFill>
                  <a:srgbClr val="334155"/>
                </a:solidFill>
              </a:rPr>
              <a:t>Academic cutoffs (Apr 30, May 31, Jul 31), 7-day SAC appeals, 15-day FDR deposits.</a:t>
            </a:r>
          </a:p>
          <a:p>
            <a:pPr>
              <a:spcAft>
                <a:spcPts val="200"/>
              </a:spcAft>
              <a:defRPr>
                <a:latin typeface="Segoe UI"/>
              </a:defRPr>
            </a:pPr>
            <a:r>
              <a:rPr b="1" sz="880">
                <a:solidFill>
                  <a:srgbClr val="047857"/>
                </a:solidFill>
              </a:rPr>
              <a:t>7. Tamper-Evident SHA-256 Audit Trail (USP): </a:t>
            </a:r>
            <a:r>
              <a:rPr sz="850">
                <a:solidFill>
                  <a:srgbClr val="334155"/>
                </a:solidFill>
              </a:rPr>
              <a:t>Cryptographically chained ledger recording all observations, transitions, and hashes.</a:t>
            </a:r>
          </a:p>
          <a:p>
            <a:pPr>
              <a:spcAft>
                <a:spcPts val="200"/>
              </a:spcAft>
              <a:defRPr>
                <a:latin typeface="Segoe UI"/>
              </a:defRPr>
            </a:pPr>
            <a:r>
              <a:rPr b="1" sz="880">
                <a:solidFill>
                  <a:srgbClr val="1E40AF"/>
                </a:solidFill>
              </a:rPr>
              <a:t>8. Six-Authority Outbox Dispatch: </a:t>
            </a:r>
            <a:r>
              <a:rPr sz="850">
                <a:solidFill>
                  <a:srgbClr val="334155"/>
                </a:solidFill>
              </a:rPr>
              <a:t>Simultaneous digitally addressed delivery to Institution, University, DTE, RO, Bureau, Portal.</a:t>
            </a:r>
          </a:p>
        </p:txBody>
      </p:sp>
      <p:sp>
        <p:nvSpPr>
          <p:cNvPr id="15364" name="Rectangle 15363"/>
          <p:cNvSpPr/>
          <p:nvPr/>
        </p:nvSpPr>
        <p:spPr>
          <a:xfrm>
            <a:off x="6126480" y="5577840"/>
            <a:ext cx="5349240" cy="502920"/>
          </a:xfrm>
          <a:prstGeom prst="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tIns="54864"/>
          <a:lstStyle/>
          <a:p>
            <a:pPr algn="l">
              <a:spcAft>
                <a:spcPts val="0"/>
              </a:spcAft>
              <a:defRPr sz="750" b="0" i="1">
                <a:solidFill>
                  <a:srgbClr val="B45309"/>
                </a:solidFill>
                <a:latin typeface="Segoe UI"/>
              </a:defRPr>
            </a:pPr>
            <a:r>
              <a:t>Architectural Integrity Disclosure: External national ecosystems (NSWS Intake, emBridge DSC, NBA Registries) are implemented as high-fidelity simulated companion adapters to demonstrate end-to-end integration without unauthorized access to live government production endpoints.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wrap="square"/>
          <a:lstStyle/>
          <a:p>
            <a:pPr eaLnBrk="1" hangingPunct="1">
              <a:defRPr sz="2000" b="1">
                <a:solidFill>
                  <a:srgbClr val="0F172A"/>
                </a:solidFill>
                <a:latin typeface="Segoe UI"/>
              </a:defRPr>
            </a:pPr>
            <a:r>
              <a:t>TECHNICAL APPROACH: 8-STAGE WORKFLOW &amp; ARCHITECTURE</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a:solidFill>
            <a:srgbClr val="1E40AF"/>
          </a:solidFill>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Segoe UI"/>
              </a:defRPr>
            </a:pPr>
            <a:r>
              <a:t>Team: Defensor</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548640" y="1234440"/>
            <a:ext cx="11064240" cy="23317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37160" tIns="91440"/>
          <a:lstStyle/>
          <a:p>
            <a:pPr algn="l">
              <a:spcAft>
                <a:spcPts val="400"/>
              </a:spcAft>
              <a:defRPr sz="1100" b="1" i="0">
                <a:solidFill>
                  <a:srgbClr val="0F172A"/>
                </a:solidFill>
                <a:latin typeface="Segoe UI"/>
              </a:defRPr>
            </a:pPr>
            <a:r>
              <a:t>COMPLETE 8-STAGE REGULATORY WORKFLOW WITH EXPLICIT CONDITIONAL BRANCHES</a:t>
            </a:r>
          </a:p>
        </p:txBody>
      </p:sp>
      <p:sp>
        <p:nvSpPr>
          <p:cNvPr id="17411" name="Rounded Rectangle 17410"/>
          <p:cNvSpPr/>
          <p:nvPr/>
        </p:nvSpPr>
        <p:spPr>
          <a:xfrm>
            <a:off x="731520" y="1572768"/>
            <a:ext cx="2560320" cy="86868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tIns="54864"/>
          <a:lstStyle/>
          <a:p>
            <a:pPr algn="l">
              <a:spcAft>
                <a:spcPts val="100"/>
              </a:spcAft>
              <a:defRPr sz="950" b="1" i="0">
                <a:solidFill>
                  <a:srgbClr val="1E40AF"/>
                </a:solidFill>
                <a:latin typeface="Segoe UI"/>
              </a:defRPr>
            </a:pPr>
            <a:r>
              <a:t>Stage 1: Intake</a:t>
            </a:r>
          </a:p>
          <a:p>
            <a:pPr algn="l">
              <a:spcAft>
                <a:spcPts val="0"/>
              </a:spcAft>
              <a:defRPr sz="800" b="0" i="0">
                <a:solidFill>
                  <a:srgbClr val="334155"/>
                </a:solidFill>
                <a:latin typeface="Segoe UI"/>
              </a:defRPr>
            </a:pPr>
            <a:r>
              <a:t>NSWS/AICTE Sync</a:t>
            </a:r>
            <a:br/>
            <a:r>
              <a:t>Canonical ARN Check</a:t>
            </a:r>
            <a:br/>
            <a:r>
              <a:t>Token DSC Verify</a:t>
            </a:r>
          </a:p>
        </p:txBody>
      </p:sp>
      <p:sp>
        <p:nvSpPr>
          <p:cNvPr id="17412" name="Rounded Rectangle 17411"/>
          <p:cNvSpPr/>
          <p:nvPr/>
        </p:nvSpPr>
        <p:spPr>
          <a:xfrm>
            <a:off x="3429000" y="1572768"/>
            <a:ext cx="2560320" cy="86868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tIns="54864"/>
          <a:lstStyle/>
          <a:p>
            <a:pPr algn="l">
              <a:spcAft>
                <a:spcPts val="100"/>
              </a:spcAft>
              <a:defRPr sz="950" b="1" i="0">
                <a:solidFill>
                  <a:srgbClr val="1E40AF"/>
                </a:solidFill>
                <a:latin typeface="Segoe UI"/>
              </a:defRPr>
            </a:pPr>
            <a:r>
              <a:t>Stage 2: Routing</a:t>
            </a:r>
          </a:p>
          <a:p>
            <a:pPr algn="l">
              <a:spcAft>
                <a:spcPts val="0"/>
              </a:spcAft>
              <a:defRPr sz="800" b="0" i="0">
                <a:solidFill>
                  <a:srgbClr val="334155"/>
                </a:solidFill>
                <a:latin typeface="Segoe UI"/>
              </a:defRPr>
            </a:pPr>
            <a:r>
              <a:t>APH Table 2.3 Norms</a:t>
            </a:r>
            <a:br/>
            <a:r>
              <a:t>'Why This Route?'</a:t>
            </a:r>
            <a:br/>
            <a:r>
              <a:t>Routes 1–5 Assigned</a:t>
            </a:r>
          </a:p>
        </p:txBody>
      </p:sp>
      <p:sp>
        <p:nvSpPr>
          <p:cNvPr id="17413" name="Rounded Rectangle 17412"/>
          <p:cNvSpPr/>
          <p:nvPr/>
        </p:nvSpPr>
        <p:spPr>
          <a:xfrm>
            <a:off x="6126480" y="1572768"/>
            <a:ext cx="2560320" cy="86868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tIns="54864"/>
          <a:lstStyle/>
          <a:p>
            <a:pPr algn="l">
              <a:spcAft>
                <a:spcPts val="100"/>
              </a:spcAft>
              <a:defRPr sz="950" b="1" i="0">
                <a:solidFill>
                  <a:srgbClr val="1E40AF"/>
                </a:solidFill>
                <a:latin typeface="Segoe UI"/>
              </a:defRPr>
            </a:pPr>
            <a:r>
              <a:t>Stage 3: Scrutiny</a:t>
            </a:r>
          </a:p>
          <a:p>
            <a:pPr algn="l">
              <a:spcAft>
                <a:spcPts val="0"/>
              </a:spcAft>
              <a:defRPr sz="800" b="0" i="0">
                <a:solidFill>
                  <a:srgbClr val="334155"/>
                </a:solidFill>
                <a:latin typeface="Segoe UI"/>
              </a:defRPr>
            </a:pPr>
            <a:r>
              <a:t>C1–C6 Digital Checklist</a:t>
            </a:r>
            <a:br/>
            <a:r>
              <a:t>D1 Deficiency Tagging</a:t>
            </a:r>
            <a:br/>
            <a:r>
              <a:t>Signed Snapshot Hash</a:t>
            </a:r>
          </a:p>
        </p:txBody>
      </p:sp>
      <p:sp>
        <p:nvSpPr>
          <p:cNvPr id="17414" name="Rounded Rectangle 17413"/>
          <p:cNvSpPr/>
          <p:nvPr/>
        </p:nvSpPr>
        <p:spPr>
          <a:xfrm>
            <a:off x="8823960" y="1572768"/>
            <a:ext cx="2560320" cy="868680"/>
          </a:xfrm>
          <a:prstGeom prst="round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73152" tIns="54864"/>
          <a:lstStyle/>
          <a:p>
            <a:pPr algn="l">
              <a:spcAft>
                <a:spcPts val="100"/>
              </a:spcAft>
              <a:defRPr sz="950" b="1" i="0">
                <a:solidFill>
                  <a:srgbClr val="047857"/>
                </a:solidFill>
                <a:latin typeface="Segoe UI"/>
              </a:defRPr>
            </a:pPr>
            <a:r>
              <a:t>Stage 4: Scope-Lock</a:t>
            </a:r>
          </a:p>
          <a:p>
            <a:pPr algn="l">
              <a:spcAft>
                <a:spcPts val="0"/>
              </a:spcAft>
              <a:defRPr sz="800" b="0" i="0">
                <a:solidFill>
                  <a:srgbClr val="334155"/>
                </a:solidFill>
                <a:latin typeface="Segoe UI"/>
              </a:defRPr>
            </a:pPr>
            <a:r>
              <a:t>Differential Re-Scrutiny</a:t>
            </a:r>
            <a:br/>
            <a:r>
              <a:t>Cleared Locked (409)</a:t>
            </a:r>
            <a:br/>
            <a:r>
              <a:t>Deficiencies Curable</a:t>
            </a:r>
          </a:p>
        </p:txBody>
      </p:sp>
      <p:sp>
        <p:nvSpPr>
          <p:cNvPr id="17415" name="Rounded Rectangle 17414"/>
          <p:cNvSpPr/>
          <p:nvPr/>
        </p:nvSpPr>
        <p:spPr>
          <a:xfrm>
            <a:off x="731520" y="2560320"/>
            <a:ext cx="2560320" cy="868680"/>
          </a:xfrm>
          <a:prstGeom prst="roundRect">
            <a:avLst/>
          </a:prstGeom>
          <a:solidFill>
            <a:srgbClr val="FEF3C7"/>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lIns="73152" tIns="54864"/>
          <a:lstStyle/>
          <a:p>
            <a:pPr algn="l">
              <a:spcAft>
                <a:spcPts val="100"/>
              </a:spcAft>
              <a:defRPr sz="950" b="1" i="0">
                <a:solidFill>
                  <a:srgbClr val="B45309"/>
                </a:solidFill>
                <a:latin typeface="Segoe UI"/>
              </a:defRPr>
            </a:pPr>
            <a:r>
              <a:t>Branch 5: EVC / Fast-Track</a:t>
            </a:r>
          </a:p>
          <a:p>
            <a:pPr algn="l">
              <a:spcAft>
                <a:spcPts val="0"/>
              </a:spcAft>
              <a:defRPr sz="800" b="0" i="0">
                <a:solidFill>
                  <a:srgbClr val="334155"/>
                </a:solidFill>
                <a:latin typeface="Segoe UI"/>
              </a:defRPr>
            </a:pPr>
            <a:r>
              <a:t>NBA &gt;=50%: Bypasses EVC</a:t>
            </a:r>
            <a:br/>
            <a:r>
              <a:t>Others: Geo-fence Visit</a:t>
            </a:r>
            <a:br/>
            <a:r>
              <a:t>GPS Photo/Video Upload</a:t>
            </a:r>
          </a:p>
        </p:txBody>
      </p:sp>
      <p:sp>
        <p:nvSpPr>
          <p:cNvPr id="17416" name="Rounded Rectangle 17415"/>
          <p:cNvSpPr/>
          <p:nvPr/>
        </p:nvSpPr>
        <p:spPr>
          <a:xfrm>
            <a:off x="3429000" y="2560320"/>
            <a:ext cx="2560320" cy="86868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tIns="54864"/>
          <a:lstStyle/>
          <a:p>
            <a:pPr algn="l">
              <a:spcAft>
                <a:spcPts val="100"/>
              </a:spcAft>
              <a:defRPr sz="950" b="1" i="0">
                <a:solidFill>
                  <a:srgbClr val="1E40AF"/>
                </a:solidFill>
                <a:latin typeface="Segoe UI"/>
              </a:defRPr>
            </a:pPr>
            <a:r>
              <a:t>Stage 6: Authority Gate</a:t>
            </a:r>
          </a:p>
          <a:p>
            <a:pPr algn="l">
              <a:spcAft>
                <a:spcPts val="0"/>
              </a:spcAft>
              <a:defRPr sz="800" b="0" i="0">
                <a:solidFill>
                  <a:srgbClr val="334155"/>
                </a:solidFill>
                <a:latin typeface="Segoe UI"/>
              </a:defRPr>
            </a:pPr>
            <a:r>
              <a:t>Role 5 Council Sign-off</a:t>
            </a:r>
            <a:br/>
            <a:r>
              <a:t>Preconditions Verified</a:t>
            </a:r>
            <a:br/>
            <a:r>
              <a:t>Approval/Rejection Order</a:t>
            </a:r>
          </a:p>
        </p:txBody>
      </p:sp>
      <p:sp>
        <p:nvSpPr>
          <p:cNvPr id="17417" name="Rounded Rectangle 17416"/>
          <p:cNvSpPr/>
          <p:nvPr/>
        </p:nvSpPr>
        <p:spPr>
          <a:xfrm>
            <a:off x="6126480" y="2560320"/>
            <a:ext cx="2560320" cy="868680"/>
          </a:xfrm>
          <a:prstGeom prst="round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73152" tIns="54864"/>
          <a:lstStyle/>
          <a:p>
            <a:pPr algn="l">
              <a:spcAft>
                <a:spcPts val="100"/>
              </a:spcAft>
              <a:defRPr sz="950" b="1" i="0">
                <a:solidFill>
                  <a:srgbClr val="047857"/>
                </a:solidFill>
                <a:latin typeface="Segoe UI"/>
              </a:defRPr>
            </a:pPr>
            <a:r>
              <a:t>Stage 7: Post-Approval</a:t>
            </a:r>
          </a:p>
          <a:p>
            <a:pPr algn="l">
              <a:spcAft>
                <a:spcPts val="0"/>
              </a:spcAft>
              <a:defRPr sz="800" b="0" i="0">
                <a:solidFill>
                  <a:srgbClr val="334155"/>
                </a:solidFill>
                <a:latin typeface="Segoe UI"/>
              </a:defRPr>
            </a:pPr>
            <a:r>
              <a:t>Obligation Generation</a:t>
            </a:r>
            <a:br/>
            <a:r>
              <a:t>4-Clock Timer Escalation</a:t>
            </a:r>
            <a:br/>
            <a:r>
              <a:t>5-State Doc Lifecycle</a:t>
            </a:r>
          </a:p>
        </p:txBody>
      </p:sp>
      <p:sp>
        <p:nvSpPr>
          <p:cNvPr id="17418" name="Rounded Rectangle 17417"/>
          <p:cNvSpPr/>
          <p:nvPr/>
        </p:nvSpPr>
        <p:spPr>
          <a:xfrm>
            <a:off x="8823960" y="2560320"/>
            <a:ext cx="2560320" cy="86868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tIns="54864"/>
          <a:lstStyle/>
          <a:p>
            <a:pPr algn="l">
              <a:spcAft>
                <a:spcPts val="100"/>
              </a:spcAft>
              <a:defRPr sz="950" b="1" i="0">
                <a:solidFill>
                  <a:srgbClr val="1E40AF"/>
                </a:solidFill>
                <a:latin typeface="Segoe UI"/>
              </a:defRPr>
            </a:pPr>
            <a:r>
              <a:t>Stage 8: Dispatch &amp; Audit</a:t>
            </a:r>
          </a:p>
          <a:p>
            <a:pPr algn="l">
              <a:spcAft>
                <a:spcPts val="0"/>
              </a:spcAft>
              <a:defRPr sz="800" b="0" i="0">
                <a:solidFill>
                  <a:srgbClr val="334155"/>
                </a:solidFill>
                <a:latin typeface="Segoe UI"/>
              </a:defRPr>
            </a:pPr>
            <a:r>
              <a:t>6-Authority Outbox</a:t>
            </a:r>
            <a:br/>
            <a:r>
              <a:t>MongoDB Atlas Wire</a:t>
            </a:r>
            <a:br/>
            <a:r>
              <a:t>SHA-256 Hash Chain</a:t>
            </a:r>
          </a:p>
        </p:txBody>
      </p:sp>
      <p:sp>
        <p:nvSpPr>
          <p:cNvPr id="17419" name="Rounded Rectangle 17418"/>
          <p:cNvSpPr/>
          <p:nvPr/>
        </p:nvSpPr>
        <p:spPr>
          <a:xfrm>
            <a:off x="548640" y="3703320"/>
            <a:ext cx="5303520" cy="251460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l">
              <a:spcAft>
                <a:spcPts val="400"/>
              </a:spcAft>
              <a:defRPr sz="1150" b="1" i="0">
                <a:solidFill>
                  <a:srgbClr val="0F172A"/>
                </a:solidFill>
                <a:latin typeface="Segoe UI"/>
              </a:defRPr>
            </a:pPr>
            <a:r>
              <a:t>THE 4 TECHNICAL PILLARS</a:t>
            </a:r>
          </a:p>
          <a:p>
            <a:pPr>
              <a:spcAft>
                <a:spcPts val="200"/>
              </a:spcAft>
            </a:pPr>
            <a:r>
              <a:rPr b="1" sz="880">
                <a:solidFill>
                  <a:srgbClr val="1E40AF"/>
                </a:solidFill>
              </a:rPr>
              <a:t>Pillar 1: Companion Ecosystem Bridges: </a:t>
            </a:r>
            <a:r>
              <a:rPr sz="850">
                <a:solidFill>
                  <a:srgbClr val="334155"/>
                </a:solidFill>
              </a:rPr>
              <a:t>Decoupled adapters for NSWS intake, Class-3 DSC signing, and accreditation lookups.</a:t>
            </a:r>
          </a:p>
          <a:p>
            <a:pPr>
              <a:spcAft>
                <a:spcPts val="200"/>
              </a:spcAft>
            </a:pPr>
            <a:r>
              <a:rPr b="1" sz="880">
                <a:solidFill>
                  <a:srgbClr val="1E40AF"/>
                </a:solidFill>
              </a:rPr>
              <a:t>Pillar 2: Version-Pinned Rule Registry: </a:t>
            </a:r>
            <a:r>
              <a:rPr sz="850">
                <a:solidFill>
                  <a:srgbClr val="334155"/>
                </a:solidFill>
              </a:rPr>
              <a:t>Applications bind immutably to applicable APH version (APH_2024_27_V1); zero retroactive shifts.</a:t>
            </a:r>
          </a:p>
          <a:p>
            <a:pPr>
              <a:spcAft>
                <a:spcPts val="200"/>
              </a:spcAft>
            </a:pPr>
            <a:r>
              <a:rPr b="1" sz="880">
                <a:solidFill>
                  <a:srgbClr val="1E40AF"/>
                </a:solidFill>
              </a:rPr>
              <a:t>Pillar 3: Five-State Document Lifecycle: </a:t>
            </a:r>
            <a:r>
              <a:rPr sz="850">
                <a:solidFill>
                  <a:srgbClr val="334155"/>
                </a:solidFill>
              </a:rPr>
              <a:t>Strict progression: Submitted → Observed → Verified (with Deficient/Rejected &amp; Superseded).</a:t>
            </a:r>
          </a:p>
          <a:p>
            <a:pPr>
              <a:spcAft>
                <a:spcPts val="200"/>
              </a:spcAft>
            </a:pPr>
            <a:r>
              <a:rPr b="1" sz="880">
                <a:solidFill>
                  <a:srgbClr val="1E40AF"/>
                </a:solidFill>
              </a:rPr>
              <a:t>Pillar 4: Four-Clock Statutory Timer Engine: </a:t>
            </a:r>
            <a:r>
              <a:rPr sz="850">
                <a:solidFill>
                  <a:srgbClr val="334155"/>
                </a:solidFill>
              </a:rPr>
              <a:t>Academic cutoffs (Apr 30, May 31, Jul 31), 7-day SAC appeals, document expiry &amp; officer SLAs.</a:t>
            </a:r>
          </a:p>
        </p:txBody>
      </p:sp>
      <p:sp>
        <p:nvSpPr>
          <p:cNvPr id="17420" name="Rounded Rectangle 17419"/>
          <p:cNvSpPr/>
          <p:nvPr/>
        </p:nvSpPr>
        <p:spPr>
          <a:xfrm>
            <a:off x="5989320" y="3703320"/>
            <a:ext cx="5623560" cy="251460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l">
              <a:spcAft>
                <a:spcPts val="400"/>
              </a:spcAft>
              <a:defRPr sz="1150" b="1" i="0">
                <a:solidFill>
                  <a:srgbClr val="0F172A"/>
                </a:solidFill>
                <a:latin typeface="Segoe UI"/>
              </a:defRPr>
            </a:pPr>
            <a:r>
              <a:t>ENTERPRISE TECHNOLOGY STACK</a:t>
            </a:r>
          </a:p>
          <a:p>
            <a:pPr>
              <a:spcAft>
                <a:spcPts val="200"/>
              </a:spcAft>
            </a:pPr>
            <a:r>
              <a:rPr b="1" sz="880">
                <a:solidFill>
                  <a:srgbClr val="1E40AF"/>
                </a:solidFill>
              </a:rPr>
              <a:t>Frontend Layer: </a:t>
            </a:r>
            <a:r>
              <a:rPr sz="850">
                <a:solidFill>
                  <a:srgbClr val="334155"/>
                </a:solidFill>
              </a:rPr>
              <a:t>React 18, TypeScript 5, Vite, Tailwind CSS, Lucide Icons, Recharts (6 Role Workspaces).</a:t>
            </a:r>
          </a:p>
          <a:p>
            <a:pPr>
              <a:spcAft>
                <a:spcPts val="200"/>
              </a:spcAft>
            </a:pPr>
            <a:r>
              <a:rPr b="1" sz="880">
                <a:solidFill>
                  <a:srgbClr val="1E40AF"/>
                </a:solidFill>
              </a:rPr>
              <a:t>Backend API Layer: </a:t>
            </a:r>
            <a:r>
              <a:rPr sz="850">
                <a:solidFill>
                  <a:srgbClr val="334155"/>
                </a:solidFill>
              </a:rPr>
              <a:t>Node.js, Express, TypeScript, Zod Schema Validation, Transactional Outbox Pattern.</a:t>
            </a:r>
          </a:p>
          <a:p>
            <a:pPr>
              <a:spcAft>
                <a:spcPts val="200"/>
              </a:spcAft>
            </a:pPr>
            <a:r>
              <a:rPr b="1" sz="880">
                <a:solidFill>
                  <a:srgbClr val="1E40AF"/>
                </a:solidFill>
              </a:rPr>
              <a:t>Database &amp; Persistence: </a:t>
            </a:r>
            <a:r>
              <a:rPr sz="850">
                <a:solidFill>
                  <a:srgbClr val="334155"/>
                </a:solidFill>
              </a:rPr>
              <a:t>MongoDB Atlas (AWS Cloud), Mongoose ODM, resilient dual-mode in-memory fallback.</a:t>
            </a:r>
          </a:p>
          <a:p>
            <a:pPr>
              <a:spcAft>
                <a:spcPts val="200"/>
              </a:spcAft>
            </a:pPr>
            <a:r>
              <a:rPr b="1" sz="880">
                <a:solidFill>
                  <a:srgbClr val="1E40AF"/>
                </a:solidFill>
              </a:rPr>
              <a:t>Security &amp; Cryptography: </a:t>
            </a:r>
            <a:r>
              <a:rPr sz="850">
                <a:solidFill>
                  <a:srgbClr val="334155"/>
                </a:solidFill>
              </a:rPr>
              <a:t>SHA-256 Tamper-Evident Hash Chaining, HttpOnly SameSite Cookies, Strict RBAC.</a:t>
            </a:r>
          </a:p>
          <a:p>
            <a:pPr>
              <a:spcAft>
                <a:spcPts val="200"/>
              </a:spcAft>
            </a:pPr>
            <a:r>
              <a:rPr b="1" sz="880">
                <a:solidFill>
                  <a:srgbClr val="1E40AF"/>
                </a:solidFill>
              </a:rPr>
              <a:t>Verification &amp; Testing: </a:t>
            </a:r>
            <a:r>
              <a:rPr sz="850">
                <a:solidFill>
                  <a:srgbClr val="334155"/>
                </a:solidFill>
              </a:rPr>
              <a:t>Vitest Test Harness (30 Test Suites, 360 Tests, 100% Pass Rate, 0 Failures).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a:lstStyle/>
          <a:p>
            <a:pPr eaLnBrk="1" hangingPunct="1">
              <a:defRPr sz="2000" b="1">
                <a:solidFill>
                  <a:srgbClr val="0F172A"/>
                </a:solidFill>
                <a:latin typeface="Segoe UI"/>
              </a:defRPr>
            </a:pPr>
            <a:r>
              <a:t>FEASIBILITY AND VIABILITY: 3-LAYER SECURITY &amp; SAFEGUARDS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a:solidFill>
            <a:srgbClr val="1E40AF"/>
          </a:solidFill>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Segoe UI"/>
              </a:defRPr>
            </a:pPr>
            <a:r>
              <a:t>Team: Defensor</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548640" y="1234440"/>
            <a:ext cx="11064240" cy="155448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73152"/>
          <a:lstStyle/>
          <a:p>
            <a:pPr algn="l">
              <a:spcAft>
                <a:spcPts val="300"/>
              </a:spcAft>
              <a:defRPr sz="1100" b="1" i="0">
                <a:solidFill>
                  <a:srgbClr val="0F172A"/>
                </a:solidFill>
                <a:latin typeface="Segoe UI"/>
              </a:defRPr>
            </a:pPr>
            <a:r>
              <a:t>3-LAYER DEFENSE-IN-DEPTH ARCHITECTURAL SAFEGUARDS</a:t>
            </a:r>
          </a:p>
        </p:txBody>
      </p:sp>
      <p:sp>
        <p:nvSpPr>
          <p:cNvPr id="17411" name="Rounded Rectangle 17410"/>
          <p:cNvSpPr/>
          <p:nvPr/>
        </p:nvSpPr>
        <p:spPr>
          <a:xfrm>
            <a:off x="685800" y="1508760"/>
            <a:ext cx="10789920" cy="365760"/>
          </a:xfrm>
          <a:prstGeom prst="roundRect">
            <a:avLst/>
          </a:prstGeom>
          <a:solidFill>
            <a:srgbClr val="EFF6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27432"/>
          <a:lstStyle/>
          <a:p>
            <a:pPr algn="ctr">
              <a:defRPr sz="850" b="1">
                <a:solidFill>
                  <a:srgbClr val="1E40AF"/>
                </a:solidFill>
                <a:latin typeface="Segoe UI"/>
              </a:defRPr>
            </a:pPr>
            <a:r>
              <a:t>Layer 1: Operational &amp; Governance Fit  |  • Non-disruptive overlay alongside existing portals; 6 authenticated role cockpits; strict applicant/council hearing segregation.</a:t>
            </a:r>
          </a:p>
        </p:txBody>
      </p:sp>
      <p:sp>
        <p:nvSpPr>
          <p:cNvPr id="17412" name="Rounded Rectangle 17411"/>
          <p:cNvSpPr/>
          <p:nvPr/>
        </p:nvSpPr>
        <p:spPr>
          <a:xfrm>
            <a:off x="685800" y="1911095"/>
            <a:ext cx="10789920" cy="365760"/>
          </a:xfrm>
          <a:prstGeom prst="roundRect">
            <a:avLst/>
          </a:prstGeom>
          <a:solidFill>
            <a:srgbClr val="F8FAFC"/>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27432"/>
          <a:lstStyle/>
          <a:p>
            <a:pPr algn="ctr">
              <a:defRPr sz="850" b="1">
                <a:solidFill>
                  <a:srgbClr val="0F172A"/>
                </a:solidFill>
                <a:latin typeface="Segoe UI"/>
              </a:defRPr>
            </a:pPr>
            <a:r>
              <a:t>Layer 2: Technical &amp; Cybersecurity Safeguards  |  • Multi-tenant scope isolation (cross-institution leaks blocked); optimistic concurrency control (__v); idempotent outbox delivery.</a:t>
            </a:r>
          </a:p>
        </p:txBody>
      </p:sp>
      <p:sp>
        <p:nvSpPr>
          <p:cNvPr id="17413" name="Rounded Rectangle 17412"/>
          <p:cNvSpPr/>
          <p:nvPr/>
        </p:nvSpPr>
        <p:spPr>
          <a:xfrm>
            <a:off x="685800" y="2313432"/>
            <a:ext cx="10789920" cy="365760"/>
          </a:xfrm>
          <a:prstGeom prst="round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tIns="27432"/>
          <a:lstStyle/>
          <a:p>
            <a:pPr algn="ctr">
              <a:defRPr sz="850" b="1">
                <a:solidFill>
                  <a:srgbClr val="047857"/>
                </a:solidFill>
                <a:latin typeface="Segoe UI"/>
              </a:defRPr>
            </a:pPr>
            <a:r>
              <a:t>Layer 3: Statutory Integrity &amp; Legal Authority  |  • Human-only decision gate (AICTE Act §10/§11); SHA-256 hash chaining (IT Act §65B); 15-day §2.25(f) FDR deposit gate.</a:t>
            </a:r>
          </a:p>
        </p:txBody>
      </p:sp>
      <p:graphicFrame>
        <p:nvGraphicFramePr>
          <p:cNvPr id="17414" name="Table 17413"/>
          <p:cNvGraphicFramePr>
            <a:graphicFrameLocks noGrp="1"/>
          </p:cNvGraphicFramePr>
          <p:nvPr/>
        </p:nvGraphicFramePr>
        <p:xfrm>
          <a:off x="548640" y="2926080"/>
          <a:ext cx="11064240" cy="3291840"/>
        </p:xfrm>
        <a:graphic>
          <a:graphicData uri="http://schemas.openxmlformats.org/drawingml/2006/table">
            <a:tbl>
              <a:tblPr firstRow="1" bandRow="1">
                <a:tableStyleId>{5C22544A-7EE6-4342-B048-85BDC9FD1C3A}</a:tableStyleId>
              </a:tblPr>
              <a:tblGrid>
                <a:gridCol w="2011680"/>
                <a:gridCol w="2286000"/>
                <a:gridCol w="2651760"/>
                <a:gridCol w="2743200"/>
                <a:gridCol w="1371600"/>
              </a:tblGrid>
              <a:tr h="548640">
                <a:tc>
                  <a:txBody>
                    <a:bodyPr/>
                    <a:lstStyle/>
                    <a:p>
                      <a:pPr algn="ctr">
                        <a:defRPr sz="950" b="1">
                          <a:solidFill>
                            <a:srgbClr val="FFFFFF"/>
                          </a:solidFill>
                          <a:latin typeface="Segoe UI"/>
                        </a:defRPr>
                      </a:pPr>
                      <a:r>
                        <a:t>Operational / Legal Risk</a:t>
                      </a:r>
                    </a:p>
                  </a:txBody>
                  <a:tcPr>
                    <a:solidFill>
                      <a:srgbClr val="0F172A"/>
                    </a:solidFill>
                  </a:tcPr>
                </a:tc>
                <a:tc>
                  <a:txBody>
                    <a:bodyPr/>
                    <a:lstStyle/>
                    <a:p>
                      <a:pPr algn="ctr">
                        <a:defRPr sz="950" b="1">
                          <a:solidFill>
                            <a:srgbClr val="FFFFFF"/>
                          </a:solidFill>
                          <a:latin typeface="Segoe UI"/>
                        </a:defRPr>
                      </a:pPr>
                      <a:r>
                        <a:t>Threat / Vulnerability Impact</a:t>
                      </a:r>
                    </a:p>
                  </a:txBody>
                  <a:tcPr>
                    <a:solidFill>
                      <a:srgbClr val="0F172A"/>
                    </a:solidFill>
                  </a:tcPr>
                </a:tc>
                <a:tc>
                  <a:txBody>
                    <a:bodyPr/>
                    <a:lstStyle/>
                    <a:p>
                      <a:pPr algn="ctr">
                        <a:defRPr sz="950" b="1">
                          <a:solidFill>
                            <a:srgbClr val="FFFFFF"/>
                          </a:solidFill>
                          <a:latin typeface="Segoe UI"/>
                        </a:defRPr>
                      </a:pPr>
                      <a:r>
                        <a:t>NIYAMSETU Engineered Safeguard</a:t>
                      </a:r>
                    </a:p>
                  </a:txBody>
                  <a:tcPr>
                    <a:solidFill>
                      <a:srgbClr val="0F172A"/>
                    </a:solidFill>
                  </a:tcPr>
                </a:tc>
                <a:tc>
                  <a:txBody>
                    <a:bodyPr/>
                    <a:lstStyle/>
                    <a:p>
                      <a:pPr algn="ctr">
                        <a:defRPr sz="950" b="1">
                          <a:solidFill>
                            <a:srgbClr val="FFFFFF"/>
                          </a:solidFill>
                          <a:latin typeface="Segoe UI"/>
                        </a:defRPr>
                      </a:pPr>
                      <a:r>
                        <a:t>Technical Enforcement Mechanism</a:t>
                      </a:r>
                    </a:p>
                  </a:txBody>
                  <a:tcPr>
                    <a:solidFill>
                      <a:srgbClr val="0F172A"/>
                    </a:solidFill>
                  </a:tcPr>
                </a:tc>
                <a:tc>
                  <a:txBody>
                    <a:bodyPr/>
                    <a:lstStyle/>
                    <a:p>
                      <a:pPr algn="ctr">
                        <a:defRPr sz="950" b="1">
                          <a:solidFill>
                            <a:srgbClr val="FFFFFF"/>
                          </a:solidFill>
                          <a:latin typeface="Segoe UI"/>
                        </a:defRPr>
                      </a:pPr>
                      <a:r>
                        <a:t>Status / Code</a:t>
                      </a:r>
                    </a:p>
                  </a:txBody>
                  <a:tcPr>
                    <a:solidFill>
                      <a:srgbClr val="0F172A"/>
                    </a:solidFill>
                  </a:tcPr>
                </a:tc>
              </a:tr>
              <a:tr h="548640">
                <a:tc>
                  <a:txBody>
                    <a:bodyPr/>
                    <a:lstStyle/>
                    <a:p>
                      <a:pPr>
                        <a:defRPr sz="850" b="1">
                          <a:solidFill>
                            <a:srgbClr val="0F172A"/>
                          </a:solidFill>
                          <a:latin typeface="Segoe UI"/>
                        </a:defRPr>
                      </a:pPr>
                      <a:r>
                        <a:t>Re-Scrutiny Scope Creep</a:t>
                      </a:r>
                    </a:p>
                  </a:txBody>
                  <a:tcPr>
                    <a:solidFill>
                      <a:srgbClr val="FFFFFF"/>
                    </a:solidFill>
                  </a:tcPr>
                </a:tc>
                <a:tc>
                  <a:txBody>
                    <a:bodyPr/>
                    <a:lstStyle/>
                    <a:p>
                      <a:pPr>
                        <a:defRPr sz="850">
                          <a:solidFill>
                            <a:srgbClr val="334155"/>
                          </a:solidFill>
                          <a:latin typeface="Segoe UI"/>
                        </a:defRPr>
                      </a:pPr>
                      <a:r>
                        <a:t>Committees arbitrarily reopen previously cleared checklist items.</a:t>
                      </a:r>
                    </a:p>
                  </a:txBody>
                  <a:tcPr>
                    <a:solidFill>
                      <a:srgbClr val="FFFFFF"/>
                    </a:solidFill>
                  </a:tcPr>
                </a:tc>
                <a:tc>
                  <a:txBody>
                    <a:bodyPr/>
                    <a:lstStyle/>
                    <a:p>
                      <a:pPr>
                        <a:defRPr sz="850">
                          <a:solidFill>
                            <a:srgbClr val="334155"/>
                          </a:solidFill>
                          <a:latin typeface="Segoe UI"/>
                        </a:defRPr>
                      </a:pPr>
                      <a:r>
                        <a:t>Immutable Snapshot Hash &amp; Item Lock: Cleared items permanently frozen.</a:t>
                      </a:r>
                    </a:p>
                  </a:txBody>
                  <a:tcPr>
                    <a:solidFill>
                      <a:srgbClr val="FFFFFF"/>
                    </a:solidFill>
                  </a:tcPr>
                </a:tc>
                <a:tc>
                  <a:txBody>
                    <a:bodyPr/>
                    <a:lstStyle/>
                    <a:p>
                      <a:pPr>
                        <a:defRPr sz="850">
                          <a:solidFill>
                            <a:srgbClr val="334155"/>
                          </a:solidFill>
                          <a:latin typeface="Segoe UI"/>
                        </a:defRPr>
                      </a:pPr>
                      <a:r>
                        <a:t>validateCorrections() middleware rejects modifications to cleared items.</a:t>
                      </a:r>
                    </a:p>
                  </a:txBody>
                  <a:tcPr>
                    <a:solidFill>
                      <a:srgbClr val="FFFFFF"/>
                    </a:solidFill>
                  </a:tcPr>
                </a:tc>
                <a:tc>
                  <a:txBody>
                    <a:bodyPr/>
                    <a:lstStyle/>
                    <a:p>
                      <a:pPr algn="ctr">
                        <a:defRPr sz="850" b="1">
                          <a:solidFill>
                            <a:srgbClr val="047857"/>
                          </a:solidFill>
                          <a:latin typeface="Segoe UI"/>
                        </a:defRPr>
                      </a:pPr>
                      <a:r>
                        <a:t>HTTP 409 Conflict</a:t>
                      </a:r>
                    </a:p>
                  </a:txBody>
                  <a:tcPr>
                    <a:solidFill>
                      <a:srgbClr val="FFFFFF"/>
                    </a:solidFill>
                  </a:tcPr>
                </a:tc>
              </a:tr>
              <a:tr h="548640">
                <a:tc>
                  <a:txBody>
                    <a:bodyPr/>
                    <a:lstStyle/>
                    <a:p>
                      <a:pPr>
                        <a:defRPr sz="850" b="1">
                          <a:solidFill>
                            <a:srgbClr val="0F172A"/>
                          </a:solidFill>
                          <a:latin typeface="Segoe UI"/>
                        </a:defRPr>
                      </a:pPr>
                      <a:r>
                        <a:t>Unauthorized Decision Issuance</a:t>
                      </a:r>
                    </a:p>
                  </a:txBody>
                  <a:tcPr>
                    <a:solidFill>
                      <a:srgbClr val="F8FAFC"/>
                    </a:solidFill>
                  </a:tcPr>
                </a:tc>
                <a:tc>
                  <a:txBody>
                    <a:bodyPr/>
                    <a:lstStyle/>
                    <a:p>
                      <a:pPr>
                        <a:defRPr sz="850">
                          <a:solidFill>
                            <a:srgbClr val="334155"/>
                          </a:solidFill>
                          <a:latin typeface="Segoe UI"/>
                        </a:defRPr>
                      </a:pPr>
                      <a:r>
                        <a:t>Junior officers or automated scripts approve applications prematurely.</a:t>
                      </a:r>
                    </a:p>
                  </a:txBody>
                  <a:tcPr>
                    <a:solidFill>
                      <a:srgbClr val="F8FAFC"/>
                    </a:solidFill>
                  </a:tcPr>
                </a:tc>
                <a:tc>
                  <a:txBody>
                    <a:bodyPr/>
                    <a:lstStyle/>
                    <a:p>
                      <a:pPr>
                        <a:defRPr sz="850">
                          <a:solidFill>
                            <a:srgbClr val="334155"/>
                          </a:solidFill>
                          <a:latin typeface="Segoe UI"/>
                        </a:defRPr>
                      </a:pPr>
                      <a:r>
                        <a:t>Statutory Role Isolation &amp; Decision Gate: Approval exclusive to Council Role 5.</a:t>
                      </a:r>
                    </a:p>
                  </a:txBody>
                  <a:tcPr>
                    <a:solidFill>
                      <a:srgbClr val="F8FAFC"/>
                    </a:solidFill>
                  </a:tcPr>
                </a:tc>
                <a:tc>
                  <a:txBody>
                    <a:bodyPr/>
                    <a:lstStyle/>
                    <a:p>
                      <a:pPr>
                        <a:defRPr sz="850">
                          <a:solidFill>
                            <a:srgbClr val="334155"/>
                          </a:solidFill>
                          <a:latin typeface="Segoe UI"/>
                        </a:defRPr>
                      </a:pPr>
                      <a:r>
                        <a:t>/decision-docs/approval-pdf endpoint strictly requires prior Bureau sign-off.</a:t>
                      </a:r>
                    </a:p>
                  </a:txBody>
                  <a:tcPr>
                    <a:solidFill>
                      <a:srgbClr val="F8FAFC"/>
                    </a:solidFill>
                  </a:tcPr>
                </a:tc>
                <a:tc>
                  <a:txBody>
                    <a:bodyPr/>
                    <a:lstStyle/>
                    <a:p>
                      <a:pPr algn="ctr">
                        <a:defRPr sz="850" b="1">
                          <a:solidFill>
                            <a:srgbClr val="1E40AF"/>
                          </a:solidFill>
                          <a:latin typeface="Segoe UI"/>
                        </a:defRPr>
                      </a:pPr>
                      <a:r>
                        <a:t>HTTP 400 Bad Request</a:t>
                      </a:r>
                    </a:p>
                  </a:txBody>
                  <a:tcPr>
                    <a:solidFill>
                      <a:srgbClr val="F8FAFC"/>
                    </a:solidFill>
                  </a:tcPr>
                </a:tc>
              </a:tr>
              <a:tr h="548640">
                <a:tc>
                  <a:txBody>
                    <a:bodyPr/>
                    <a:lstStyle/>
                    <a:p>
                      <a:pPr>
                        <a:defRPr sz="850" b="1">
                          <a:solidFill>
                            <a:srgbClr val="0F172A"/>
                          </a:solidFill>
                          <a:latin typeface="Segoe UI"/>
                        </a:defRPr>
                      </a:pPr>
                      <a:r>
                        <a:t>Simultaneous Officer Collisions</a:t>
                      </a:r>
                    </a:p>
                  </a:txBody>
                  <a:tcPr>
                    <a:solidFill>
                      <a:srgbClr val="FFFFFF"/>
                    </a:solidFill>
                  </a:tcPr>
                </a:tc>
                <a:tc>
                  <a:txBody>
                    <a:bodyPr/>
                    <a:lstStyle/>
                    <a:p>
                      <a:pPr>
                        <a:defRPr sz="850">
                          <a:solidFill>
                            <a:srgbClr val="334155"/>
                          </a:solidFill>
                          <a:latin typeface="Segoe UI"/>
                        </a:defRPr>
                      </a:pPr>
                      <a:r>
                        <a:t>Two regional officers process the same case simultaneously, causing overwrite.</a:t>
                      </a:r>
                    </a:p>
                  </a:txBody>
                  <a:tcPr>
                    <a:solidFill>
                      <a:srgbClr val="FFFFFF"/>
                    </a:solidFill>
                  </a:tcPr>
                </a:tc>
                <a:tc>
                  <a:txBody>
                    <a:bodyPr/>
                    <a:lstStyle/>
                    <a:p>
                      <a:pPr>
                        <a:defRPr sz="850">
                          <a:solidFill>
                            <a:srgbClr val="334155"/>
                          </a:solidFill>
                          <a:latin typeface="Segoe UI"/>
                        </a:defRPr>
                      </a:pPr>
                      <a:r>
                        <a:t>Optimistic Concurrency Control: State updates verify version stamp (__v).</a:t>
                      </a:r>
                    </a:p>
                  </a:txBody>
                  <a:tcPr>
                    <a:solidFill>
                      <a:srgbClr val="FFFFFF"/>
                    </a:solidFill>
                  </a:tcPr>
                </a:tc>
                <a:tc>
                  <a:txBody>
                    <a:bodyPr/>
                    <a:lstStyle/>
                    <a:p>
                      <a:pPr>
                        <a:defRPr sz="850">
                          <a:solidFill>
                            <a:srgbClr val="334155"/>
                          </a:solidFill>
                          <a:latin typeface="Segoe UI"/>
                        </a:defRPr>
                      </a:pPr>
                      <a:r>
                        <a:t>Atomic conditional update rejects stale timestamps before persisting.</a:t>
                      </a:r>
                    </a:p>
                  </a:txBody>
                  <a:tcPr>
                    <a:solidFill>
                      <a:srgbClr val="FFFFFF"/>
                    </a:solidFill>
                  </a:tcPr>
                </a:tc>
                <a:tc>
                  <a:txBody>
                    <a:bodyPr/>
                    <a:lstStyle/>
                    <a:p>
                      <a:pPr algn="ctr">
                        <a:defRPr sz="850" b="1">
                          <a:solidFill>
                            <a:srgbClr val="047857"/>
                          </a:solidFill>
                          <a:latin typeface="Segoe UI"/>
                        </a:defRPr>
                      </a:pPr>
                      <a:r>
                        <a:t>HTTP 409 Conflict</a:t>
                      </a:r>
                    </a:p>
                  </a:txBody>
                  <a:tcPr>
                    <a:solidFill>
                      <a:srgbClr val="FFFFFF"/>
                    </a:solidFill>
                  </a:tcPr>
                </a:tc>
              </a:tr>
              <a:tr h="548640">
                <a:tc>
                  <a:txBody>
                    <a:bodyPr/>
                    <a:lstStyle/>
                    <a:p>
                      <a:pPr>
                        <a:defRPr sz="850" b="1">
                          <a:solidFill>
                            <a:srgbClr val="0F172A"/>
                          </a:solidFill>
                          <a:latin typeface="Segoe UI"/>
                        </a:defRPr>
                      </a:pPr>
                      <a:r>
                        <a:t>Cross-Tenant Data Leakage</a:t>
                      </a:r>
                    </a:p>
                  </a:txBody>
                  <a:tcPr>
                    <a:solidFill>
                      <a:srgbClr val="F8FAFC"/>
                    </a:solidFill>
                  </a:tcPr>
                </a:tc>
                <a:tc>
                  <a:txBody>
                    <a:bodyPr/>
                    <a:lstStyle/>
                    <a:p>
                      <a:pPr>
                        <a:defRPr sz="850">
                          <a:solidFill>
                            <a:srgbClr val="334155"/>
                          </a:solidFill>
                          <a:latin typeface="Segoe UI"/>
                        </a:defRPr>
                      </a:pPr>
                      <a:r>
                        <a:t>Institution B inspects confidential affidavits of Institution A.</a:t>
                      </a:r>
                    </a:p>
                  </a:txBody>
                  <a:tcPr>
                    <a:solidFill>
                      <a:srgbClr val="F8FAFC"/>
                    </a:solidFill>
                  </a:tcPr>
                </a:tc>
                <a:tc>
                  <a:txBody>
                    <a:bodyPr/>
                    <a:lstStyle/>
                    <a:p>
                      <a:pPr>
                        <a:defRPr sz="850">
                          <a:solidFill>
                            <a:srgbClr val="334155"/>
                          </a:solidFill>
                          <a:latin typeface="Segoe UI"/>
                        </a:defRPr>
                      </a:pPr>
                      <a:r>
                        <a:t>Multi-Tenant Scope Middleware: Scopes queries to actor institutionId.</a:t>
                      </a:r>
                    </a:p>
                  </a:txBody>
                  <a:tcPr>
                    <a:solidFill>
                      <a:srgbClr val="F8FAFC"/>
                    </a:solidFill>
                  </a:tcPr>
                </a:tc>
                <a:tc>
                  <a:txBody>
                    <a:bodyPr/>
                    <a:lstStyle/>
                    <a:p>
                      <a:pPr>
                        <a:defRPr sz="850">
                          <a:solidFill>
                            <a:srgbClr val="334155"/>
                          </a:solidFill>
                          <a:latin typeface="Segoe UI"/>
                        </a:defRPr>
                      </a:pPr>
                      <a:r>
                        <a:t>Server middleware rejects cross-scope queries and unauthorized parameters.</a:t>
                      </a:r>
                    </a:p>
                  </a:txBody>
                  <a:tcPr>
                    <a:solidFill>
                      <a:srgbClr val="F8FAFC"/>
                    </a:solidFill>
                  </a:tcPr>
                </a:tc>
                <a:tc>
                  <a:txBody>
                    <a:bodyPr/>
                    <a:lstStyle/>
                    <a:p>
                      <a:pPr algn="ctr">
                        <a:defRPr sz="850" b="1">
                          <a:solidFill>
                            <a:srgbClr val="1E40AF"/>
                          </a:solidFill>
                          <a:latin typeface="Segoe UI"/>
                        </a:defRPr>
                      </a:pPr>
                      <a:r>
                        <a:t>HTTP 403 Forbidden</a:t>
                      </a:r>
                    </a:p>
                  </a:txBody>
                  <a:tcPr>
                    <a:solidFill>
                      <a:srgbClr val="F8FAFC"/>
                    </a:solidFill>
                  </a:tcPr>
                </a:tc>
              </a:tr>
              <a:tr h="548640">
                <a:tc>
                  <a:txBody>
                    <a:bodyPr/>
                    <a:lstStyle/>
                    <a:p>
                      <a:pPr>
                        <a:defRPr sz="850" b="1">
                          <a:solidFill>
                            <a:srgbClr val="0F172A"/>
                          </a:solidFill>
                          <a:latin typeface="Segoe UI"/>
                        </a:defRPr>
                      </a:pPr>
                      <a:r>
                        <a:t>Audit Trail Tampering</a:t>
                      </a:r>
                    </a:p>
                  </a:txBody>
                  <a:tcPr>
                    <a:solidFill>
                      <a:srgbClr val="FFFFFF"/>
                    </a:solidFill>
                  </a:tcPr>
                </a:tc>
                <a:tc>
                  <a:txBody>
                    <a:bodyPr/>
                    <a:lstStyle/>
                    <a:p>
                      <a:pPr>
                        <a:defRPr sz="850">
                          <a:solidFill>
                            <a:srgbClr val="334155"/>
                          </a:solidFill>
                          <a:latin typeface="Segoe UI"/>
                        </a:defRPr>
                      </a:pPr>
                      <a:r>
                        <a:t>Malicious actor alters historical scrutiny logs directly in database.</a:t>
                      </a:r>
                    </a:p>
                  </a:txBody>
                  <a:tcPr>
                    <a:solidFill>
                      <a:srgbClr val="FFFFFF"/>
                    </a:solidFill>
                  </a:tcPr>
                </a:tc>
                <a:tc>
                  <a:txBody>
                    <a:bodyPr/>
                    <a:lstStyle/>
                    <a:p>
                      <a:pPr>
                        <a:defRPr sz="850">
                          <a:solidFill>
                            <a:srgbClr val="334155"/>
                          </a:solidFill>
                          <a:latin typeface="Segoe UI"/>
                        </a:defRPr>
                      </a:pPr>
                      <a:r>
                        <a:t>SHA-256 Cryptographic Hash Chaining: Each event binds previous hash + actor.</a:t>
                      </a:r>
                    </a:p>
                  </a:txBody>
                  <a:tcPr>
                    <a:solidFill>
                      <a:srgbClr val="FFFFFF"/>
                    </a:solidFill>
                  </a:tcPr>
                </a:tc>
                <a:tc>
                  <a:txBody>
                    <a:bodyPr/>
                    <a:lstStyle/>
                    <a:p>
                      <a:pPr>
                        <a:defRPr sz="850">
                          <a:solidFill>
                            <a:srgbClr val="334155"/>
                          </a:solidFill>
                          <a:latin typeface="Segoe UI"/>
                        </a:defRPr>
                      </a:pPr>
                      <a:r>
                        <a:t>Audit verifier computes expected hash chain; breaks detected immediately.</a:t>
                      </a:r>
                    </a:p>
                  </a:txBody>
                  <a:tcPr>
                    <a:solidFill>
                      <a:srgbClr val="FFFFFF"/>
                    </a:solidFill>
                  </a:tcPr>
                </a:tc>
                <a:tc>
                  <a:txBody>
                    <a:bodyPr/>
                    <a:lstStyle/>
                    <a:p>
                      <a:pPr algn="ctr">
                        <a:defRPr sz="850" b="1">
                          <a:solidFill>
                            <a:srgbClr val="047857"/>
                          </a:solidFill>
                          <a:latin typeface="Segoe UI"/>
                        </a:defRPr>
                      </a:pPr>
                      <a:r>
                        <a:t>Tamper Detected</a:t>
                      </a:r>
                    </a:p>
                  </a:txBody>
                  <a:tcPr>
                    <a:solidFill>
                      <a:srgbClr val="FFFFFF"/>
                    </a:solidFill>
                  </a:tcPr>
                </a:tc>
              </a:tr>
            </a:tbl>
          </a:graphicData>
        </a:graphic>
      </p:graphicFrame>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a:lstStyle/>
          <a:p>
            <a:pPr eaLnBrk="1" hangingPunct="1">
              <a:defRPr sz="2000" b="1">
                <a:solidFill>
                  <a:srgbClr val="0F172A"/>
                </a:solidFill>
                <a:latin typeface="Segoe UI"/>
              </a:defRPr>
            </a:pPr>
            <a:r>
              <a:t>IMPACT AND BENEFITS: VERIFIED BENCHMARKS &amp; REPLAY EVIDENCE</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a:solidFill>
            <a:srgbClr val="1E40AF"/>
          </a:solidFill>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Segoe UI"/>
              </a:defRPr>
            </a:pPr>
            <a:r>
              <a:t>Team: Defensor</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graphicFrame>
        <p:nvGraphicFramePr>
          <p:cNvPr id="17410" name="Table 17409"/>
          <p:cNvGraphicFramePr>
            <a:graphicFrameLocks noGrp="1"/>
          </p:cNvGraphicFramePr>
          <p:nvPr/>
        </p:nvGraphicFramePr>
        <p:xfrm>
          <a:off x="548640" y="1234440"/>
          <a:ext cx="11064240" cy="2057400"/>
        </p:xfrm>
        <a:graphic>
          <a:graphicData uri="http://schemas.openxmlformats.org/drawingml/2006/table">
            <a:tbl>
              <a:tblPr firstRow="1" bandRow="1">
                <a:tableStyleId>{5C22544A-7EE6-4342-B048-85BDC9FD1C3A}</a:tableStyleId>
              </a:tblPr>
              <a:tblGrid>
                <a:gridCol w="2286000"/>
                <a:gridCol w="3931920"/>
                <a:gridCol w="4846320"/>
              </a:tblGrid>
              <a:tr h="342900">
                <a:tc>
                  <a:txBody>
                    <a:bodyPr/>
                    <a:lstStyle/>
                    <a:p>
                      <a:pPr algn="ctr">
                        <a:defRPr sz="950" b="1">
                          <a:solidFill>
                            <a:srgbClr val="FFFFFF"/>
                          </a:solidFill>
                          <a:latin typeface="Segoe UI"/>
                        </a:defRPr>
                      </a:pPr>
                      <a:r>
                        <a:t>Stakeholder Group</a:t>
                      </a:r>
                    </a:p>
                  </a:txBody>
                  <a:tcPr>
                    <a:solidFill>
                      <a:srgbClr val="0F172A"/>
                    </a:solidFill>
                  </a:tcPr>
                </a:tc>
                <a:tc>
                  <a:txBody>
                    <a:bodyPr/>
                    <a:lstStyle/>
                    <a:p>
                      <a:pPr algn="ctr">
                        <a:defRPr sz="950" b="1">
                          <a:solidFill>
                            <a:srgbClr val="FFFFFF"/>
                          </a:solidFill>
                          <a:latin typeface="Segoe UI"/>
                        </a:defRPr>
                      </a:pPr>
                      <a:r>
                        <a:t>Traditional Manual Friction &amp; Inefficiencies</a:t>
                      </a:r>
                    </a:p>
                  </a:txBody>
                  <a:tcPr>
                    <a:solidFill>
                      <a:srgbClr val="0F172A"/>
                    </a:solidFill>
                  </a:tcPr>
                </a:tc>
                <a:tc>
                  <a:txBody>
                    <a:bodyPr/>
                    <a:lstStyle/>
                    <a:p>
                      <a:pPr algn="ctr">
                        <a:defRPr sz="950" b="1">
                          <a:solidFill>
                            <a:srgbClr val="FFFFFF"/>
                          </a:solidFill>
                          <a:latin typeface="Segoe UI"/>
                        </a:defRPr>
                      </a:pPr>
                      <a:r>
                        <a:t>NIYAMSETU Measurable Impact &amp; Value</a:t>
                      </a:r>
                    </a:p>
                  </a:txBody>
                  <a:tcPr>
                    <a:solidFill>
                      <a:srgbClr val="0F172A"/>
                    </a:solidFill>
                  </a:tcPr>
                </a:tc>
              </a:tr>
              <a:tr h="342900">
                <a:tc>
                  <a:txBody>
                    <a:bodyPr/>
                    <a:lstStyle/>
                    <a:p>
                      <a:pPr>
                        <a:defRPr sz="819" b="1">
                          <a:solidFill>
                            <a:srgbClr val="1E40AF"/>
                          </a:solidFill>
                          <a:latin typeface="Segoe UI"/>
                        </a:defRPr>
                      </a:pPr>
                      <a:r>
                        <a:t>AICTE HQ &amp; Bureau</a:t>
                      </a:r>
                    </a:p>
                  </a:txBody>
                  <a:tcPr>
                    <a:solidFill>
                      <a:srgbClr val="FFFFFF"/>
                    </a:solidFill>
                  </a:tcPr>
                </a:tc>
                <a:tc>
                  <a:txBody>
                    <a:bodyPr/>
                    <a:lstStyle/>
                    <a:p>
                      <a:pPr>
                        <a:defRPr sz="819">
                          <a:solidFill>
                            <a:srgbClr val="334155"/>
                          </a:solidFill>
                          <a:latin typeface="Segoe UI"/>
                        </a:defRPr>
                      </a:pPr>
                      <a:r>
                        <a:t>Inconsistent regional reporting, manual drafting, post-approval blind spots.</a:t>
                      </a:r>
                    </a:p>
                  </a:txBody>
                  <a:tcPr>
                    <a:solidFill>
                      <a:srgbClr val="FFFFFF"/>
                    </a:solidFill>
                  </a:tcPr>
                </a:tc>
                <a:tc>
                  <a:txBody>
                    <a:bodyPr/>
                    <a:lstStyle/>
                    <a:p>
                      <a:pPr>
                        <a:defRPr sz="819">
                          <a:solidFill>
                            <a:srgbClr val="334155"/>
                          </a:solidFill>
                          <a:latin typeface="Segoe UI"/>
                        </a:defRPr>
                      </a:pPr>
                      <a:r>
                        <a:t>Central Command Cockpit: Real-time pendency heatmaps, automated 6-authority dispatch, 100% obligation visibility.</a:t>
                      </a:r>
                    </a:p>
                  </a:txBody>
                  <a:tcPr>
                    <a:solidFill>
                      <a:srgbClr val="FFFFFF"/>
                    </a:solidFill>
                  </a:tcPr>
                </a:tc>
              </a:tr>
              <a:tr h="342900">
                <a:tc>
                  <a:txBody>
                    <a:bodyPr/>
                    <a:lstStyle/>
                    <a:p>
                      <a:pPr>
                        <a:defRPr sz="819" b="1">
                          <a:solidFill>
                            <a:srgbClr val="1E40AF"/>
                          </a:solidFill>
                          <a:latin typeface="Segoe UI"/>
                        </a:defRPr>
                      </a:pPr>
                      <a:r>
                        <a:t>8 Regional Offices</a:t>
                      </a:r>
                    </a:p>
                  </a:txBody>
                  <a:tcPr>
                    <a:solidFill>
                      <a:srgbClr val="F8FAFC"/>
                    </a:solidFill>
                  </a:tcPr>
                </a:tc>
                <a:tc>
                  <a:txBody>
                    <a:bodyPr/>
                    <a:lstStyle/>
                    <a:p>
                      <a:pPr>
                        <a:defRPr sz="819">
                          <a:solidFill>
                            <a:srgbClr val="334155"/>
                          </a:solidFill>
                          <a:latin typeface="Segoe UI"/>
                        </a:defRPr>
                      </a:pPr>
                      <a:r>
                        <a:t>Manual case tracking, missed academic cutoffs, uncoordinated EVC visits.</a:t>
                      </a:r>
                    </a:p>
                  </a:txBody>
                  <a:tcPr>
                    <a:solidFill>
                      <a:srgbClr val="F8FAFC"/>
                    </a:solidFill>
                  </a:tcPr>
                </a:tc>
                <a:tc>
                  <a:txBody>
                    <a:bodyPr/>
                    <a:lstStyle/>
                    <a:p>
                      <a:pPr>
                        <a:defRPr sz="819">
                          <a:solidFill>
                            <a:srgbClr val="334155"/>
                          </a:solidFill>
                          <a:latin typeface="Segoe UI"/>
                        </a:defRPr>
                      </a:pPr>
                      <a:r>
                        <a:t>Automated SLA Engine: 4-clock countdowns, geo-fenced EVC allocation, instant standardized deficiency generation.</a:t>
                      </a:r>
                    </a:p>
                  </a:txBody>
                  <a:tcPr>
                    <a:solidFill>
                      <a:srgbClr val="F8FAFC"/>
                    </a:solidFill>
                  </a:tcPr>
                </a:tc>
              </a:tr>
              <a:tr h="342900">
                <a:tc>
                  <a:txBody>
                    <a:bodyPr/>
                    <a:lstStyle/>
                    <a:p>
                      <a:pPr>
                        <a:defRPr sz="819" b="1">
                          <a:solidFill>
                            <a:srgbClr val="1E40AF"/>
                          </a:solidFill>
                          <a:latin typeface="Segoe UI"/>
                        </a:defRPr>
                      </a:pPr>
                      <a:r>
                        <a:t>Technical Institutions</a:t>
                      </a:r>
                    </a:p>
                  </a:txBody>
                  <a:tcPr>
                    <a:solidFill>
                      <a:srgbClr val="FFFFFF"/>
                    </a:solidFill>
                  </a:tcPr>
                </a:tc>
                <a:tc>
                  <a:txBody>
                    <a:bodyPr/>
                    <a:lstStyle/>
                    <a:p>
                      <a:pPr>
                        <a:defRPr sz="819">
                          <a:solidFill>
                            <a:srgbClr val="334155"/>
                          </a:solidFill>
                          <a:latin typeface="Segoe UI"/>
                        </a:defRPr>
                      </a:pPr>
                      <a:r>
                        <a:t>Arbitrary re-scrutiny cycles, lack of route transparency, surprise audits.</a:t>
                      </a:r>
                    </a:p>
                  </a:txBody>
                  <a:tcPr>
                    <a:solidFill>
                      <a:srgbClr val="FFFFFF"/>
                    </a:solidFill>
                  </a:tcPr>
                </a:tc>
                <a:tc>
                  <a:txBody>
                    <a:bodyPr/>
                    <a:lstStyle/>
                    <a:p>
                      <a:pPr>
                        <a:defRPr sz="819">
                          <a:solidFill>
                            <a:srgbClr val="334155"/>
                          </a:solidFill>
                          <a:latin typeface="Segoe UI"/>
                        </a:defRPr>
                      </a:pPr>
                      <a:r>
                        <a:t>Transparent Self-Service: 'Why This Route?' explanatory cards, scope-locked re-scrutiny, automated expiry alerts.</a:t>
                      </a:r>
                    </a:p>
                  </a:txBody>
                  <a:tcPr>
                    <a:solidFill>
                      <a:srgbClr val="FFFFFF"/>
                    </a:solidFill>
                  </a:tcPr>
                </a:tc>
              </a:tr>
              <a:tr h="342900">
                <a:tc>
                  <a:txBody>
                    <a:bodyPr/>
                    <a:lstStyle/>
                    <a:p>
                      <a:pPr>
                        <a:defRPr sz="819" b="1">
                          <a:solidFill>
                            <a:srgbClr val="1E40AF"/>
                          </a:solidFill>
                          <a:latin typeface="Segoe UI"/>
                        </a:defRPr>
                      </a:pPr>
                      <a:r>
                        <a:t>Scrutiny &amp; EVC Committees</a:t>
                      </a:r>
                    </a:p>
                  </a:txBody>
                  <a:tcPr>
                    <a:solidFill>
                      <a:srgbClr val="F8FAFC"/>
                    </a:solidFill>
                  </a:tcPr>
                </a:tc>
                <a:tc>
                  <a:txBody>
                    <a:bodyPr/>
                    <a:lstStyle/>
                    <a:p>
                      <a:pPr>
                        <a:defRPr sz="819">
                          <a:solidFill>
                            <a:srgbClr val="334155"/>
                          </a:solidFill>
                          <a:latin typeface="Segoe UI"/>
                        </a:defRPr>
                      </a:pPr>
                      <a:r>
                        <a:t>Bulky paper dossiers, unverified campus coordinates, ambiguous proformas.</a:t>
                      </a:r>
                    </a:p>
                  </a:txBody>
                  <a:tcPr>
                    <a:solidFill>
                      <a:srgbClr val="F8FAFC"/>
                    </a:solidFill>
                  </a:tcPr>
                </a:tc>
                <a:tc>
                  <a:txBody>
                    <a:bodyPr/>
                    <a:lstStyle/>
                    <a:p>
                      <a:pPr>
                        <a:defRPr sz="819">
                          <a:solidFill>
                            <a:srgbClr val="334155"/>
                          </a:solidFill>
                          <a:latin typeface="Segoe UI"/>
                        </a:defRPr>
                      </a:pPr>
                      <a:r>
                        <a:t>Digital Verification Cockpit: Structured C1–C6 proforma, automated land/FSI calculators, GPS/timestamped video.</a:t>
                      </a:r>
                    </a:p>
                  </a:txBody>
                  <a:tcPr>
                    <a:solidFill>
                      <a:srgbClr val="F8FAFC"/>
                    </a:solidFill>
                  </a:tcPr>
                </a:tc>
              </a:tr>
              <a:tr h="342900">
                <a:tc>
                  <a:txBody>
                    <a:bodyPr/>
                    <a:lstStyle/>
                    <a:p>
                      <a:pPr>
                        <a:defRPr sz="819" b="1">
                          <a:solidFill>
                            <a:srgbClr val="1E40AF"/>
                          </a:solidFill>
                          <a:latin typeface="Segoe UI"/>
                        </a:defRPr>
                      </a:pPr>
                      <a:r>
                        <a:t>State DTEs &amp; Universities</a:t>
                      </a:r>
                    </a:p>
                  </a:txBody>
                  <a:tcPr>
                    <a:solidFill>
                      <a:srgbClr val="FFFFFF"/>
                    </a:solidFill>
                  </a:tcPr>
                </a:tc>
                <a:tc>
                  <a:txBody>
                    <a:bodyPr/>
                    <a:lstStyle/>
                    <a:p>
                      <a:pPr>
                        <a:defRPr sz="819">
                          <a:solidFill>
                            <a:srgbClr val="334155"/>
                          </a:solidFill>
                          <a:latin typeface="Segoe UI"/>
                        </a:defRPr>
                      </a:pPr>
                      <a:r>
                        <a:t>Delayed approval intimations, uncoordinated intake changes, fragmented NOCs.</a:t>
                      </a:r>
                    </a:p>
                  </a:txBody>
                  <a:tcPr>
                    <a:solidFill>
                      <a:srgbClr val="FFFFFF"/>
                    </a:solidFill>
                  </a:tcPr>
                </a:tc>
                <a:tc>
                  <a:txBody>
                    <a:bodyPr/>
                    <a:lstStyle/>
                    <a:p>
                      <a:pPr>
                        <a:defRPr sz="819">
                          <a:solidFill>
                            <a:srgbClr val="334155"/>
                          </a:solidFill>
                          <a:latin typeface="Segoe UI"/>
                        </a:defRPr>
                      </a:pPr>
                      <a:r>
                        <a:t>Simultaneous Outbox Dispatch: Instant digital service of orders, synchronized NOC tracking, shared compliance.</a:t>
                      </a:r>
                    </a:p>
                  </a:txBody>
                  <a:tcPr>
                    <a:solidFill>
                      <a:srgbClr val="FFFFFF"/>
                    </a:solidFill>
                  </a:tcPr>
                </a:tc>
              </a:tr>
            </a:tbl>
          </a:graphicData>
        </a:graphic>
      </p:graphicFrame>
      <p:sp>
        <p:nvSpPr>
          <p:cNvPr id="17411" name="Rounded Rectangle 17410"/>
          <p:cNvSpPr/>
          <p:nvPr/>
        </p:nvSpPr>
        <p:spPr>
          <a:xfrm>
            <a:off x="548640" y="3474720"/>
            <a:ext cx="5303520" cy="274320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l">
              <a:spcAft>
                <a:spcPts val="400"/>
              </a:spcAft>
              <a:defRPr sz="1150" b="1" i="0">
                <a:solidFill>
                  <a:srgbClr val="0F172A"/>
                </a:solidFill>
                <a:latin typeface="Segoe UI"/>
              </a:defRPr>
            </a:pPr>
            <a:r>
              <a:t>VERIFIED QUANTITATIVE BENCHMARKS</a:t>
            </a:r>
          </a:p>
          <a:p>
            <a:pPr>
              <a:spcAft>
                <a:spcPts val="250"/>
              </a:spcAft>
            </a:pPr>
            <a:r>
              <a:rPr b="1" sz="900">
                <a:solidFill>
                  <a:srgbClr val="047857"/>
                </a:solidFill>
              </a:rPr>
              <a:t>✓ 360 / 360 Tests Passing (100% Pass Rate)
</a:t>
            </a:r>
            <a:r>
              <a:rPr sz="819">
                <a:solidFill>
                  <a:srgbClr val="334155"/>
                </a:solidFill>
              </a:rPr>
              <a:t>Verified across 30 test suites in Vitest with 0 failures.</a:t>
            </a:r>
          </a:p>
          <a:p>
            <a:pPr>
              <a:spcAft>
                <a:spcPts val="250"/>
              </a:spcAft>
            </a:pPr>
            <a:r>
              <a:rPr b="1" sz="900">
                <a:solidFill>
                  <a:srgbClr val="047857"/>
                </a:solidFill>
              </a:rPr>
              <a:t>✓ 100% Scope Creep Protection
</a:t>
            </a:r>
            <a:r>
              <a:rPr sz="819">
                <a:solidFill>
                  <a:srgbClr val="334155"/>
                </a:solidFill>
              </a:rPr>
              <a:t>Zero tampering attempts permitted across 4 re-scrutiny loops (HTTP 409).</a:t>
            </a:r>
          </a:p>
          <a:p>
            <a:pPr>
              <a:spcAft>
                <a:spcPts val="250"/>
              </a:spcAft>
            </a:pPr>
            <a:r>
              <a:rPr b="1" sz="900">
                <a:solidFill>
                  <a:srgbClr val="1E40AF"/>
                </a:solidFill>
              </a:rPr>
              <a:t>✓ 100% Statutory Precondition Enforcement
</a:t>
            </a:r>
            <a:r>
              <a:rPr sz="819">
                <a:solidFill>
                  <a:srgbClr val="334155"/>
                </a:solidFill>
              </a:rPr>
              <a:t>Zero premature approval PDFs generated without Council decision (HTTP 400).</a:t>
            </a:r>
          </a:p>
          <a:p>
            <a:pPr>
              <a:spcAft>
                <a:spcPts val="250"/>
              </a:spcAft>
            </a:pPr>
            <a:r>
              <a:rPr b="1" sz="900">
                <a:solidFill>
                  <a:srgbClr val="1E40AF"/>
                </a:solidFill>
              </a:rPr>
              <a:t>✓ 100% Cryptographic Tamper Detection
</a:t>
            </a:r>
            <a:r>
              <a:rPr sz="819">
                <a:solidFill>
                  <a:srgbClr val="334155"/>
                </a:solidFill>
              </a:rPr>
              <a:t>Continuous SHA-256 hash chaining detects any database mutation.</a:t>
            </a:r>
          </a:p>
          <a:p>
            <a:pPr>
              <a:spcAft>
                <a:spcPts val="250"/>
              </a:spcAft>
            </a:pPr>
            <a:r>
              <a:rPr b="1" sz="900">
                <a:solidFill>
                  <a:srgbClr val="0F172A"/>
                </a:solidFill>
              </a:rPr>
              <a:t>✓ Production Prototype Live on Render
</a:t>
            </a:r>
            <a:r>
              <a:rPr sz="819">
                <a:solidFill>
                  <a:srgbClr val="334155"/>
                </a:solidFill>
              </a:rPr>
              <a:t>Deployed at https://niyamsetu-aicte.onrender.com wired to MongoDB Atlas.</a:t>
            </a:r>
          </a:p>
        </p:txBody>
      </p:sp>
      <p:sp>
        <p:nvSpPr>
          <p:cNvPr id="17412" name="Rounded Rectangle 17411"/>
          <p:cNvSpPr/>
          <p:nvPr/>
        </p:nvSpPr>
        <p:spPr>
          <a:xfrm>
            <a:off x="5989320" y="3474720"/>
            <a:ext cx="5623560" cy="274320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l">
              <a:spcAft>
                <a:spcPts val="400"/>
              </a:spcAft>
              <a:defRPr sz="1150" b="1" i="0">
                <a:solidFill>
                  <a:srgbClr val="0F172A"/>
                </a:solidFill>
                <a:latin typeface="Segoe UI"/>
              </a:defRPr>
            </a:pPr>
            <a:r>
              <a:t>PROVEN REGULATORY REPLAY SCENARIOS</a:t>
            </a:r>
          </a:p>
          <a:p>
            <a:pPr>
              <a:spcAft>
                <a:spcPts val="300"/>
              </a:spcAft>
            </a:pPr>
            <a:r>
              <a:rPr b="1" sz="900">
                <a:solidFill>
                  <a:srgbClr val="1E40AF"/>
                </a:solidFill>
              </a:rPr>
              <a:t>▶ GIITS Visakhapatnam Replay (Deficiency Cure)
</a:t>
            </a:r>
            <a:r>
              <a:rPr sz="819">
                <a:solidFill>
                  <a:srgbClr val="334155"/>
                </a:solidFill>
              </a:rPr>
              <a:t>Simulated 95-page real scrutiny proforma. Faculty Cadre deficiencies successfully cured across 2 re-scrutiny loops while locking Land/Infrastructure items from reopening.</a:t>
            </a:r>
          </a:p>
          <a:p>
            <a:pPr>
              <a:spcAft>
                <a:spcPts val="300"/>
              </a:spcAft>
            </a:pPr>
            <a:r>
              <a:rPr b="1" sz="900">
                <a:solidFill>
                  <a:srgbClr val="047857"/>
                </a:solidFill>
              </a:rPr>
              <a:t>▶ UBDTCE Fast-Track EoA (NBA Bypass)
</a:t>
            </a:r>
            <a:r>
              <a:rPr sz="819">
                <a:solidFill>
                  <a:srgbClr val="334155"/>
                </a:solidFill>
              </a:rPr>
              <a:t>Verified &gt;=50% NBA-accredited courses under Table 2.3. System automatically routed institution to Fast-Track EoA, bypassing physical EVC inspection in 0 seconds.</a:t>
            </a:r>
          </a:p>
          <a:p>
            <a:pPr>
              <a:spcAft>
                <a:spcPts val="300"/>
              </a:spcAft>
            </a:pPr>
            <a:r>
              <a:rPr b="1" sz="900">
                <a:solidFill>
                  <a:srgbClr val="B45309"/>
                </a:solidFill>
              </a:rPr>
              <a:t>▶ MCET Land Hold &amp; Dispute Intimation
</a:t>
            </a:r>
            <a:r>
              <a:rPr sz="819">
                <a:solidFill>
                  <a:srgbClr val="334155"/>
                </a:solidFill>
              </a:rPr>
              <a:t>Evaluated land/FSI borderline dispute. Automatically held application in review-required state and generated Chapter VIII Standing Hearing Committee (SHC) intimation notice.</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a:lstStyle/>
          <a:p>
            <a:pPr eaLnBrk="1" hangingPunct="1">
              <a:defRPr sz="2000" b="1">
                <a:solidFill>
                  <a:srgbClr val="0F172A"/>
                </a:solidFill>
                <a:latin typeface="Segoe UI"/>
              </a:defRPr>
            </a:pPr>
            <a:r>
              <a:t>RESEARCH AND REFERENCES: REGULATORY STATUTES &amp; PROJECT VAULT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a:solidFill>
            <a:srgbClr val="1E40AF"/>
          </a:solidFill>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Segoe UI"/>
              </a:defRPr>
            </a:pPr>
            <a:r>
              <a:t>Team: Defensor</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548640" y="1234440"/>
            <a:ext cx="5303520" cy="493776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137160" rIns="164592"/>
          <a:lstStyle/>
          <a:p>
            <a:pPr algn="l">
              <a:spcAft>
                <a:spcPts val="600"/>
              </a:spcAft>
              <a:defRPr sz="1200" b="1" i="0">
                <a:solidFill>
                  <a:srgbClr val="0F172A"/>
                </a:solidFill>
                <a:latin typeface="Segoe UI"/>
              </a:defRPr>
            </a:pPr>
            <a:r>
              <a:t>PRIMARY AUTHORITATIVE REGULATORY SOURCES</a:t>
            </a:r>
          </a:p>
          <a:p>
            <a:pPr>
              <a:spcAft>
                <a:spcPts val="250"/>
              </a:spcAft>
            </a:pPr>
            <a:r>
              <a:rPr b="1" sz="850">
                <a:solidFill>
                  <a:srgbClr val="1E40AF"/>
                </a:solidFill>
              </a:rPr>
              <a:t>1. AICTE Approval Process Handbook (APH) 2024–25 to 2026–27
</a:t>
            </a:r>
            <a:r>
              <a:rPr sz="780">
                <a:solidFill>
                  <a:srgbClr val="334155"/>
                </a:solidFill>
              </a:rPr>
              <a:t>Chapters I, II, VII, VIII &amp; Appendices 4, 5, 7, 8 — Statutory norms for land, built-up area, cadre ratios, and committee evaluation.
Link: https://gujacpc.admissions.nic.in/document/aicte-approval-process-handbook-2024-25-to-2026-27/</a:t>
            </a:r>
          </a:p>
          <a:p>
            <a:pPr>
              <a:spcAft>
                <a:spcPts val="250"/>
              </a:spcAft>
            </a:pPr>
            <a:r>
              <a:rPr b="1" sz="850">
                <a:solidFill>
                  <a:srgbClr val="1E40AF"/>
                </a:solidFill>
              </a:rPr>
              <a:t>2. AICTE Addendum / Corrigendum for AY 2026–27
</a:t>
            </a:r>
            <a:r>
              <a:rPr sz="780">
                <a:solidFill>
                  <a:srgbClr val="334155"/>
                </a:solidFill>
              </a:rPr>
              <a:t>Gazette Notification Feb 20, 2026 — Official modifications on Working Professionals scheme, FSI norms, and extended EoA criteria.
Link: https://avantiscdnprodstorage.blob.core.windows.net/legalupdatedocs/52940/</a:t>
            </a:r>
          </a:p>
          <a:p>
            <a:pPr>
              <a:spcAft>
                <a:spcPts val="250"/>
              </a:spcAft>
            </a:pPr>
            <a:r>
              <a:rPr b="1" sz="850">
                <a:solidFill>
                  <a:srgbClr val="1E40AF"/>
                </a:solidFill>
              </a:rPr>
              <a:t>3. Revised AICTE Academic Calendar Circular 2026–27
</a:t>
            </a:r>
            <a:r>
              <a:rPr sz="780">
                <a:solidFill>
                  <a:srgbClr val="334155"/>
                </a:solidFill>
              </a:rPr>
              <a:t>Statutory Deadlines Circular — Cutoffs: April 30 (Round 1), May 31 (Round 2 EoA), July 31 (Final SAC Appeals).
Link: https://ncerc.ac.in/documents/circular/Revised%20Academic%20Calendar%202026-27.pdf</a:t>
            </a:r>
          </a:p>
          <a:p>
            <a:pPr>
              <a:spcAft>
                <a:spcPts val="250"/>
              </a:spcAft>
            </a:pPr>
            <a:r>
              <a:rPr b="1" sz="850">
                <a:solidFill>
                  <a:srgbClr val="1E40AF"/>
                </a:solidFill>
              </a:rPr>
              <a:t>4. All India Council for Technical Education Act, 1987 (Act 52 of 1987)
</a:t>
            </a:r>
            <a:r>
              <a:rPr sz="780">
                <a:solidFill>
                  <a:srgbClr val="334155"/>
                </a:solidFill>
              </a:rPr>
              <a:t>Sections 10 &amp; 11 — Statutory vesting of powers in the Council for technical education standards, approval grants, and inspection procedures.</a:t>
            </a:r>
          </a:p>
          <a:p>
            <a:pPr>
              <a:spcAft>
                <a:spcPts val="250"/>
              </a:spcAft>
            </a:pPr>
            <a:r>
              <a:rPr b="1" sz="850">
                <a:solidFill>
                  <a:srgbClr val="1E40AF"/>
                </a:solidFill>
              </a:rPr>
              <a:t>5. Information Technology Act, 2000 (Act 21 of 2000)
</a:t>
            </a:r>
            <a:r>
              <a:rPr sz="780">
                <a:solidFill>
                  <a:srgbClr val="334155"/>
                </a:solidFill>
              </a:rPr>
              <a:t>Section 35 (Digital Signature Certificates) &amp; Section 65B (Admissibility of Electronic Records) — Legal basis for emBridge DSC and SHA-256 audit chaining.</a:t>
            </a:r>
          </a:p>
          <a:p>
            <a:pPr>
              <a:spcAft>
                <a:spcPts val="250"/>
              </a:spcAft>
            </a:pPr>
            <a:r>
              <a:rPr b="1" sz="850">
                <a:solidFill>
                  <a:srgbClr val="1E40AF"/>
                </a:solidFill>
              </a:rPr>
              <a:t>6. Official AICTE Public Scrutiny Evaluation Reports
</a:t>
            </a:r>
            <a:r>
              <a:rPr sz="780">
                <a:solidFill>
                  <a:srgbClr val="334155"/>
                </a:solidFill>
              </a:rPr>
              <a:t>GIITS Visakhapatnam 95-page scrutiny report, MCET report, and UBDTCE EoA letter used for authentic baseline validation.</a:t>
            </a:r>
          </a:p>
        </p:txBody>
      </p:sp>
      <p:sp>
        <p:nvSpPr>
          <p:cNvPr id="17411" name="Rounded Rectangle 17410"/>
          <p:cNvSpPr/>
          <p:nvPr/>
        </p:nvSpPr>
        <p:spPr>
          <a:xfrm>
            <a:off x="5989320" y="1234440"/>
            <a:ext cx="5623560" cy="493776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164592" tIns="137160" rIns="164592"/>
          <a:lstStyle/>
          <a:p>
            <a:pPr algn="l">
              <a:spcAft>
                <a:spcPts val="600"/>
              </a:spcAft>
              <a:defRPr sz="1200" b="1" i="0">
                <a:solidFill>
                  <a:srgbClr val="0F172A"/>
                </a:solidFill>
                <a:latin typeface="Segoe UI"/>
              </a:defRPr>
            </a:pPr>
            <a:r>
              <a:t>PUBLIC PROJECT VERIFICATION VAULT &amp; DELIVERABLES</a:t>
            </a:r>
          </a:p>
          <a:p>
            <a:pPr>
              <a:spcAft>
                <a:spcPts val="250"/>
              </a:spcAft>
            </a:pPr>
            <a:r>
              <a:rPr b="1" sz="850">
                <a:solidFill>
                  <a:srgbClr val="047857"/>
                </a:solidFill>
              </a:rPr>
              <a:t>Live Production Application (Render PaaS)
</a:t>
            </a:r>
            <a:r>
              <a:rPr sz="780">
                <a:solidFill>
                  <a:srgbClr val="334155"/>
                </a:solidFill>
              </a:rPr>
              <a:t>https://niyamsetu-aicte.onrender.com
(Instant multi-role persona switcher for all 6 authenticated roles)</a:t>
            </a:r>
          </a:p>
          <a:p>
            <a:pPr>
              <a:spcAft>
                <a:spcPts val="250"/>
              </a:spcAft>
            </a:pPr>
            <a:r>
              <a:rPr b="1" sz="850">
                <a:solidFill>
                  <a:srgbClr val="1E40AF"/>
                </a:solidFill>
              </a:rPr>
              <a:t>GitHub Primary Repository
</a:t>
            </a:r>
            <a:r>
              <a:rPr sz="780">
                <a:solidFill>
                  <a:srgbClr val="334155"/>
                </a:solidFill>
              </a:rPr>
              <a:t>https://github.com/Mayuresh-1306/SIH-2026-AICTE
(Full source code, Vitest test suite, and CI/CD pipelines)</a:t>
            </a:r>
          </a:p>
          <a:p>
            <a:pPr>
              <a:spcAft>
                <a:spcPts val="250"/>
              </a:spcAft>
            </a:pPr>
            <a:r>
              <a:rPr b="1" sz="850">
                <a:solidFill>
                  <a:srgbClr val="1E40AF"/>
                </a:solidFill>
              </a:rPr>
              <a:t>GitHub Mirror Repository
</a:t>
            </a:r>
            <a:r>
              <a:rPr sz="780">
                <a:solidFill>
                  <a:srgbClr val="334155"/>
                </a:solidFill>
              </a:rPr>
              <a:t>https://github.com/Parth-Chavan-15/SIH-2026-AICTE
(Verified mirror maintained at commit bc341e6)</a:t>
            </a:r>
          </a:p>
          <a:p>
            <a:pPr>
              <a:spcAft>
                <a:spcPts val="250"/>
              </a:spcAft>
            </a:pPr>
            <a:r>
              <a:rPr b="1" sz="850">
                <a:solidFill>
                  <a:srgbClr val="047857"/>
                </a:solidFill>
              </a:rPr>
              <a:t>Comprehensive Interaction Audit
</a:t>
            </a:r>
            <a:r>
              <a:rPr sz="780">
                <a:solidFill>
                  <a:srgbClr val="334155"/>
                </a:solidFill>
              </a:rPr>
              <a:t>docs/INTERACTION_AUDIT.md
(74 UI interactions across all 6 roles tested and verified without mocks)</a:t>
            </a:r>
          </a:p>
          <a:p>
            <a:pPr>
              <a:spcAft>
                <a:spcPts val="250"/>
              </a:spcAft>
            </a:pPr>
            <a:r>
              <a:rPr b="1" sz="850">
                <a:solidFill>
                  <a:srgbClr val="1E40AF"/>
                </a:solidFill>
              </a:rPr>
              <a:t>Problem Statement Compliance Matrix
</a:t>
            </a:r>
            <a:r>
              <a:rPr sz="780">
                <a:solidFill>
                  <a:srgbClr val="334155"/>
                </a:solidFill>
              </a:rPr>
              <a:t>docs/PS_COMPLIANCE_MATRIX.md
(100% coverage mapping against AICTE Problem Statement 26262 requirements)</a:t>
            </a:r>
          </a:p>
          <a:p>
            <a:pPr>
              <a:spcAft>
                <a:spcPts val="250"/>
              </a:spcAft>
            </a:pPr>
            <a:r>
              <a:rPr b="1" sz="850">
                <a:solidFill>
                  <a:srgbClr val="1E40AF"/>
                </a:solidFill>
              </a:rPr>
              <a:t>As-Built Engineering Blueprint
</a:t>
            </a:r>
            <a:r>
              <a:rPr sz="780">
                <a:solidFill>
                  <a:srgbClr val="334155"/>
                </a:solidFill>
              </a:rPr>
              <a:t>AS_BUILT_BLUEPRINT.md
(Complete architectural specifications, data models, and persistence wiring)</a:t>
            </a:r>
          </a:p>
          <a:p>
            <a:pPr>
              <a:spcAft>
                <a:spcPts val="250"/>
              </a:spcAft>
            </a:pPr>
            <a:r>
              <a:rPr b="1" sz="850">
                <a:solidFill>
                  <a:srgbClr val="1E40AF"/>
                </a:solidFill>
              </a:rPr>
              <a:t>Claim &amp; Evidence Ledger
</a:t>
            </a:r>
            <a:r>
              <a:rPr sz="780">
                <a:solidFill>
                  <a:srgbClr val="334155"/>
                </a:solidFill>
              </a:rPr>
              <a:t>docs/PPT_CLAIM_EVIDENCE_LEDGER.md
(34-point forensic audit reconciling all legacy claims against reality)</a:t>
            </a:r>
          </a:p>
          <a:p>
            <a:pPr>
              <a:spcAft>
                <a:spcPts val="250"/>
              </a:spcAft>
            </a:pPr>
            <a:r>
              <a:rPr b="1" sz="850">
                <a:solidFill>
                  <a:srgbClr val="1E40AF"/>
                </a:solidFill>
              </a:rPr>
              <a:t>Team Identity &amp; Hackathon Details
</a:t>
            </a:r>
            <a:r>
              <a:rPr sz="780">
                <a:solidFill>
                  <a:srgbClr val="334155"/>
                </a:solidFill>
              </a:rPr>
              <a:t>Team Defensor | Smart India Hackathon 2026
Ministry of Education's Innovation Cell &amp; AICTE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